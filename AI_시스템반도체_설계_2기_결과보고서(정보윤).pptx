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332720" cy="914400"/>
          </a:xfrm>
          <a:prstGeom prst="rect">
            <a:avLst/>
          </a:prstGeom>
          <a:noFill/>
        </p:spPr>
        <p:txBody>
          <a:bodyPr wrap="square">
            <a:spAutoFit/>
          </a:bodyPr>
          <a:lstStyle/>
          <a:p>
            <a:pPr algn="l">
              <a:spcBef>
                <a:spcPts val="400"/>
              </a:spcBef>
            </a:pPr>
            <a:r>
              <a:rPr sz="1800" b="0">
                <a:solidFill>
                  <a:srgbClr val="A9C4E4"/>
                </a:solidFill>
                <a:latin typeface="맑은 고딕"/>
                <a:ea typeface="맑은 고딕"/>
              </a:rPr>
              <a:t>AI 시스템반도체 SW개발자 (2기)</a:t>
            </a:r>
          </a:p>
        </p:txBody>
      </p:sp>
      <p:sp>
        <p:nvSpPr>
          <p:cNvPr id="4" name="TextBox 3"/>
          <p:cNvSpPr txBox="1"/>
          <p:nvPr/>
        </p:nvSpPr>
        <p:spPr>
          <a:xfrm>
            <a:off x="914400" y="2468880"/>
            <a:ext cx="10332720" cy="1463040"/>
          </a:xfrm>
          <a:prstGeom prst="rect">
            <a:avLst/>
          </a:prstGeom>
          <a:noFill/>
        </p:spPr>
        <p:txBody>
          <a:bodyPr wrap="square">
            <a:spAutoFit/>
          </a:bodyPr>
          <a:lstStyle/>
          <a:p>
            <a:pPr algn="l">
              <a:spcBef>
                <a:spcPts val="400"/>
              </a:spcBef>
            </a:pPr>
            <a:r>
              <a:rPr sz="3000" b="1">
                <a:solidFill>
                  <a:srgbClr val="FFFFFF"/>
                </a:solidFill>
                <a:latin typeface="맑은 고딕"/>
                <a:ea typeface="맑은 고딕"/>
              </a:rPr>
              <a:t>라즈베리파이 5 + YOLO11n 기반</a:t>
            </a:r>
          </a:p>
          <a:p>
            <a:pPr algn="l">
              <a:spcBef>
                <a:spcPts val="400"/>
              </a:spcBef>
            </a:pPr>
            <a:r>
              <a:rPr sz="4000" b="1">
                <a:solidFill>
                  <a:srgbClr val="FFFFFF"/>
                </a:solidFill>
                <a:latin typeface="맑은 고딕"/>
                <a:ea typeface="맑은 고딕"/>
              </a:rPr>
              <a:t>2인용 가위바위보 게임 On-Device 구현</a:t>
            </a:r>
          </a:p>
        </p:txBody>
      </p:sp>
      <p:sp>
        <p:nvSpPr>
          <p:cNvPr id="5" name="Rectangle 4"/>
          <p:cNvSpPr/>
          <p:nvPr/>
        </p:nvSpPr>
        <p:spPr>
          <a:xfrm>
            <a:off x="914400" y="4343400"/>
            <a:ext cx="2926080" cy="381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72000"/>
            <a:ext cx="10332720" cy="1280160"/>
          </a:xfrm>
          <a:prstGeom prst="rect">
            <a:avLst/>
          </a:prstGeom>
          <a:noFill/>
        </p:spPr>
        <p:txBody>
          <a:bodyPr wrap="square">
            <a:spAutoFit/>
          </a:bodyPr>
          <a:lstStyle/>
          <a:p>
            <a:pPr algn="l">
              <a:spcBef>
                <a:spcPts val="400"/>
              </a:spcBef>
            </a:pPr>
            <a:r>
              <a:rPr sz="2000" b="1">
                <a:solidFill>
                  <a:srgbClr val="C8D8EE"/>
                </a:solidFill>
                <a:latin typeface="맑은 고딕"/>
                <a:ea typeface="맑은 고딕"/>
              </a:rPr>
              <a:t>프로젝트 결과보고서</a:t>
            </a:r>
          </a:p>
          <a:p>
            <a:pPr algn="l">
              <a:spcBef>
                <a:spcPts val="1000"/>
              </a:spcBef>
            </a:pPr>
            <a:r>
              <a:rPr sz="1800" b="0">
                <a:solidFill>
                  <a:srgbClr val="FFFFFF"/>
                </a:solidFill>
                <a:latin typeface="맑은 고딕"/>
                <a:ea typeface="맑은 고딕"/>
              </a:rPr>
              <a:t>정보윤</a:t>
            </a:r>
          </a:p>
          <a:p>
            <a:pPr algn="l">
              <a:spcBef>
                <a:spcPts val="400"/>
              </a:spcBef>
            </a:pPr>
            <a:r>
              <a:rPr sz="1400" b="0">
                <a:solidFill>
                  <a:srgbClr val="A9C4E4"/>
                </a:solidFill>
                <a:latin typeface="맑은 고딕"/>
                <a:ea typeface="맑은 고딕"/>
              </a:rPr>
              <a:t>2026. 09. 18.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목차</a:t>
            </a:r>
          </a:p>
        </p:txBody>
      </p:sp>
      <p:sp>
        <p:nvSpPr>
          <p:cNvPr id="3" name="Rectangle 2"/>
          <p:cNvSpPr/>
          <p:nvPr/>
        </p:nvSpPr>
        <p:spPr>
          <a:xfrm>
            <a:off x="1097280" y="1371600"/>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1</a:t>
            </a:r>
          </a:p>
        </p:txBody>
      </p:sp>
      <p:sp>
        <p:nvSpPr>
          <p:cNvPr id="4" name="TextBox 3"/>
          <p:cNvSpPr txBox="1"/>
          <p:nvPr/>
        </p:nvSpPr>
        <p:spPr>
          <a:xfrm>
            <a:off x="1920240" y="1353312"/>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주제 및 결과 요약</a:t>
            </a:r>
          </a:p>
          <a:p>
            <a:pPr algn="l">
              <a:spcBef>
                <a:spcPts val="100"/>
              </a:spcBef>
            </a:pPr>
            <a:r>
              <a:rPr sz="1200" b="0">
                <a:solidFill>
                  <a:srgbClr val="555555"/>
                </a:solidFill>
                <a:latin typeface="맑은 고딕"/>
                <a:ea typeface="맑은 고딕"/>
              </a:rPr>
              <a:t>무엇을 만들었고 결과가 얼마인가</a:t>
            </a:r>
          </a:p>
        </p:txBody>
      </p:sp>
      <p:sp>
        <p:nvSpPr>
          <p:cNvPr id="5" name="Rectangle 4"/>
          <p:cNvSpPr/>
          <p:nvPr/>
        </p:nvSpPr>
        <p:spPr>
          <a:xfrm>
            <a:off x="1097280" y="2212848"/>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2</a:t>
            </a:r>
          </a:p>
        </p:txBody>
      </p:sp>
      <p:sp>
        <p:nvSpPr>
          <p:cNvPr id="6" name="TextBox 5"/>
          <p:cNvSpPr txBox="1"/>
          <p:nvPr/>
        </p:nvSpPr>
        <p:spPr>
          <a:xfrm>
            <a:off x="1920240" y="2194560"/>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개발 목표 및 개발 결과</a:t>
            </a:r>
          </a:p>
          <a:p>
            <a:pPr algn="l">
              <a:spcBef>
                <a:spcPts val="100"/>
              </a:spcBef>
            </a:pPr>
            <a:r>
              <a:rPr sz="1200" b="0">
                <a:solidFill>
                  <a:srgbClr val="555555"/>
                </a:solidFill>
                <a:latin typeface="맑은 고딕"/>
                <a:ea typeface="맑은 고딕"/>
              </a:rPr>
              <a:t>5단계 과제 구현 + 추가로 한 것</a:t>
            </a:r>
          </a:p>
        </p:txBody>
      </p:sp>
      <p:sp>
        <p:nvSpPr>
          <p:cNvPr id="7" name="Rectangle 6"/>
          <p:cNvSpPr/>
          <p:nvPr/>
        </p:nvSpPr>
        <p:spPr>
          <a:xfrm>
            <a:off x="1097280" y="3054096"/>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3</a:t>
            </a:r>
          </a:p>
        </p:txBody>
      </p:sp>
      <p:sp>
        <p:nvSpPr>
          <p:cNvPr id="8" name="TextBox 7"/>
          <p:cNvSpPr txBox="1"/>
          <p:nvPr/>
        </p:nvSpPr>
        <p:spPr>
          <a:xfrm>
            <a:off x="1920240" y="3035808"/>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핵심 기술</a:t>
            </a:r>
          </a:p>
          <a:p>
            <a:pPr algn="l">
              <a:spcBef>
                <a:spcPts val="100"/>
              </a:spcBef>
            </a:pPr>
            <a:r>
              <a:rPr sz="1200" b="0">
                <a:solidFill>
                  <a:srgbClr val="555555"/>
                </a:solidFill>
                <a:latin typeface="맑은 고딕"/>
                <a:ea typeface="맑은 고딕"/>
              </a:rPr>
              <a:t>검출 파이프라인 · 모델 경량화 · 데이터셋 도구</a:t>
            </a:r>
          </a:p>
        </p:txBody>
      </p:sp>
      <p:sp>
        <p:nvSpPr>
          <p:cNvPr id="9" name="Rectangle 8"/>
          <p:cNvSpPr/>
          <p:nvPr/>
        </p:nvSpPr>
        <p:spPr>
          <a:xfrm>
            <a:off x="1097280" y="3895344"/>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4</a:t>
            </a:r>
          </a:p>
        </p:txBody>
      </p:sp>
      <p:sp>
        <p:nvSpPr>
          <p:cNvPr id="10" name="TextBox 9"/>
          <p:cNvSpPr txBox="1"/>
          <p:nvPr/>
        </p:nvSpPr>
        <p:spPr>
          <a:xfrm>
            <a:off x="1920240" y="3877056"/>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결과 분석 및 기대 효과</a:t>
            </a:r>
          </a:p>
          <a:p>
            <a:pPr algn="l">
              <a:spcBef>
                <a:spcPts val="100"/>
              </a:spcBef>
            </a:pPr>
            <a:r>
              <a:rPr sz="1200" b="0">
                <a:solidFill>
                  <a:srgbClr val="555555"/>
                </a:solidFill>
                <a:latin typeface="맑은 고딕"/>
                <a:ea typeface="맑은 고딕"/>
              </a:rPr>
              <a:t>두 개의 시험지로 드러난 실제 성능</a:t>
            </a:r>
          </a:p>
        </p:txBody>
      </p:sp>
      <p:sp>
        <p:nvSpPr>
          <p:cNvPr id="11" name="Rectangle 10"/>
          <p:cNvSpPr/>
          <p:nvPr/>
        </p:nvSpPr>
        <p:spPr>
          <a:xfrm>
            <a:off x="1097280" y="4736592"/>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5</a:t>
            </a:r>
          </a:p>
        </p:txBody>
      </p:sp>
      <p:sp>
        <p:nvSpPr>
          <p:cNvPr id="12" name="TextBox 11"/>
          <p:cNvSpPr txBox="1"/>
          <p:nvPr/>
        </p:nvSpPr>
        <p:spPr>
          <a:xfrm>
            <a:off x="1920240" y="4718304"/>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향후 연구 과제</a:t>
            </a:r>
          </a:p>
          <a:p>
            <a:pPr algn="l">
              <a:spcBef>
                <a:spcPts val="100"/>
              </a:spcBef>
            </a:pPr>
            <a:r>
              <a:rPr sz="1200" b="0">
                <a:solidFill>
                  <a:srgbClr val="555555"/>
                </a:solidFill>
                <a:latin typeface="맑은 고딕"/>
                <a:ea typeface="맑은 고딕"/>
              </a:rPr>
              <a:t>남은 문제와 해결 방향</a:t>
            </a:r>
          </a:p>
        </p:txBody>
      </p:sp>
      <p:sp>
        <p:nvSpPr>
          <p:cNvPr id="13" name="Rectangle 12"/>
          <p:cNvSpPr/>
          <p:nvPr/>
        </p:nvSpPr>
        <p:spPr>
          <a:xfrm>
            <a:off x="1097280" y="5577840"/>
            <a:ext cx="566928" cy="566928"/>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맑은 고딕"/>
                <a:ea typeface="맑은 고딕"/>
              </a:rPr>
              <a:t>6</a:t>
            </a:r>
          </a:p>
        </p:txBody>
      </p:sp>
      <p:sp>
        <p:nvSpPr>
          <p:cNvPr id="14" name="TextBox 13"/>
          <p:cNvSpPr txBox="1"/>
          <p:nvPr/>
        </p:nvSpPr>
        <p:spPr>
          <a:xfrm>
            <a:off x="1920240" y="5559552"/>
            <a:ext cx="8686800" cy="640080"/>
          </a:xfrm>
          <a:prstGeom prst="rect">
            <a:avLst/>
          </a:prstGeom>
          <a:noFill/>
        </p:spPr>
        <p:txBody>
          <a:bodyPr wrap="square">
            <a:spAutoFit/>
          </a:bodyPr>
          <a:lstStyle/>
          <a:p>
            <a:pPr algn="l">
              <a:spcBef>
                <a:spcPts val="400"/>
              </a:spcBef>
            </a:pPr>
            <a:r>
              <a:rPr sz="1900" b="1">
                <a:solidFill>
                  <a:srgbClr val="1F3B63"/>
                </a:solidFill>
                <a:latin typeface="맑은 고딕"/>
                <a:ea typeface="맑은 고딕"/>
              </a:rPr>
              <a:t>프로젝트 수행 후기</a:t>
            </a:r>
          </a:p>
          <a:p>
            <a:pPr algn="l">
              <a:spcBef>
                <a:spcPts val="100"/>
              </a:spcBef>
            </a:pPr>
            <a:r>
              <a:rPr sz="1200" b="0">
                <a:solidFill>
                  <a:srgbClr val="555555"/>
                </a:solidFill>
                <a:latin typeface="맑은 고딕"/>
                <a:ea typeface="맑은 고딕"/>
              </a:rPr>
              <a:t>측정으로 배운 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1. 주제 및 결과 요약</a:t>
            </a:r>
          </a:p>
        </p:txBody>
      </p:sp>
      <p:sp>
        <p:nvSpPr>
          <p:cNvPr id="3" name="Rectangle 2"/>
          <p:cNvSpPr/>
          <p:nvPr/>
        </p:nvSpPr>
        <p:spPr>
          <a:xfrm>
            <a:off x="457200" y="109728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600" b="1">
                <a:solidFill>
                  <a:srgbClr val="1F3B63"/>
                </a:solidFill>
                <a:latin typeface="맑은 고딕"/>
                <a:ea typeface="맑은 고딕"/>
              </a:rPr>
              <a:t>학습 데이터를 82장 → 724장으로 늘려, 실사용 조건 검출 성능 mAP50 0.475 → 0.851 (+79%) 달성</a:t>
            </a:r>
          </a:p>
        </p:txBody>
      </p:sp>
      <p:sp>
        <p:nvSpPr>
          <p:cNvPr id="4" name="TextBox 3"/>
          <p:cNvSpPr txBox="1"/>
          <p:nvPr/>
        </p:nvSpPr>
        <p:spPr>
          <a:xfrm>
            <a:off x="457200" y="1874519"/>
            <a:ext cx="5486400" cy="1828800"/>
          </a:xfrm>
          <a:prstGeom prst="rect">
            <a:avLst/>
          </a:prstGeom>
          <a:noFill/>
        </p:spPr>
        <p:txBody>
          <a:bodyPr wrap="square">
            <a:spAutoFit/>
          </a:bodyPr>
          <a:lstStyle/>
          <a:p>
            <a:pPr algn="l">
              <a:spcBef>
                <a:spcPts val="400"/>
              </a:spcBef>
            </a:pPr>
            <a:r>
              <a:rPr sz="1500" b="1">
                <a:solidFill>
                  <a:srgbClr val="1F3B63"/>
                </a:solidFill>
                <a:latin typeface="맑은 고딕"/>
                <a:ea typeface="맑은 고딕"/>
              </a:rPr>
              <a:t>■ 주제</a:t>
            </a:r>
          </a:p>
          <a:p>
            <a:pPr algn="l">
              <a:spcBef>
                <a:spcPts val="400"/>
              </a:spcBef>
            </a:pPr>
            <a:r>
              <a:rPr sz="1250" b="0">
                <a:latin typeface="맑은 고딕"/>
                <a:ea typeface="맑은 고딕"/>
              </a:rPr>
              <a:t>라즈베리파이 5 단독(On-Device)으로 동작하는 2인용 가위바위보 게임. YOLO11n이 화면 속 두 손을 찾아 좌/우로 플레이어를 나누고 승패를 판정한다.</a:t>
            </a:r>
          </a:p>
          <a:p>
            <a:pPr algn="l">
              <a:spcBef>
                <a:spcPts val="1200"/>
              </a:spcBef>
            </a:pPr>
            <a:r>
              <a:rPr sz="1500" b="1">
                <a:solidFill>
                  <a:srgbClr val="1F3B63"/>
                </a:solidFill>
                <a:latin typeface="맑은 고딕"/>
                <a:ea typeface="맑은 고딕"/>
              </a:rPr>
              <a:t>■ 목표</a:t>
            </a:r>
          </a:p>
          <a:p>
            <a:pPr algn="l">
              <a:spcBef>
                <a:spcPts val="400"/>
              </a:spcBef>
            </a:pPr>
            <a:r>
              <a:rPr sz="1250" b="0">
                <a:latin typeface="맑은 고딕"/>
                <a:ea typeface="맑은 고딕"/>
              </a:rPr>
              <a:t>① 교수님 제시 5단계 과제 전부 구현  ② 보드 단독 실시간 동작  ③ 실제 사용 환경에서 쓸 수 있는 인식 정확도 확보</a:t>
            </a:r>
          </a:p>
        </p:txBody>
      </p:sp>
      <p:graphicFrame>
        <p:nvGraphicFramePr>
          <p:cNvPr id="5" name="Table 4"/>
          <p:cNvGraphicFramePr>
            <a:graphicFrameLocks noGrp="1"/>
          </p:cNvGraphicFramePr>
          <p:nvPr/>
        </p:nvGraphicFramePr>
        <p:xfrm>
          <a:off x="6172200" y="1874519"/>
          <a:ext cx="5577839" cy="2304288"/>
        </p:xfrm>
        <a:graphic>
          <a:graphicData uri="http://schemas.openxmlformats.org/drawingml/2006/table">
            <a:tbl>
              <a:tblPr firstRow="1" bandRow="1">
                <a:tableStyleId>{5C22544A-7EE6-4342-B048-85BDC9FD1C3A}</a:tableStyleId>
              </a:tblPr>
              <a:tblGrid>
                <a:gridCol w="1593668"/>
                <a:gridCol w="2071769"/>
                <a:gridCol w="1912402"/>
              </a:tblGrid>
              <a:tr h="384048">
                <a:tc>
                  <a:txBody>
                    <a:bodyPr wrap="square"/>
                    <a:lstStyle/>
                    <a:p>
                      <a:pPr algn="l"/>
                      <a:r>
                        <a:rPr sz="1100" b="1">
                          <a:solidFill>
                            <a:srgbClr val="FFFFFF"/>
                          </a:solidFill>
                          <a:latin typeface="맑은 고딕"/>
                          <a:ea typeface="맑은 고딕"/>
                        </a:rPr>
                        <a:t>결과 항목</a:t>
                      </a:r>
                    </a:p>
                  </a:txBody>
                  <a:tcPr marL="54864" marT="18288" marB="18288" anchor="ctr">
                    <a:solidFill>
                      <a:srgbClr val="1F3B63"/>
                    </a:solidFill>
                  </a:tcPr>
                </a:tc>
                <a:tc>
                  <a:txBody>
                    <a:bodyPr wrap="square"/>
                    <a:lstStyle/>
                    <a:p>
                      <a:pPr algn="ctr"/>
                      <a:r>
                        <a:rPr sz="1100" b="1">
                          <a:solidFill>
                            <a:srgbClr val="FFFFFF"/>
                          </a:solidFill>
                          <a:latin typeface="맑은 고딕"/>
                          <a:ea typeface="맑은 고딕"/>
                        </a:rPr>
                        <a:t>수치</a:t>
                      </a:r>
                    </a:p>
                  </a:txBody>
                  <a:tcPr marL="54864" marT="18288" marB="18288" anchor="ctr">
                    <a:solidFill>
                      <a:srgbClr val="1F3B63"/>
                    </a:solidFill>
                  </a:tcPr>
                </a:tc>
                <a:tc>
                  <a:txBody>
                    <a:bodyPr wrap="square"/>
                    <a:lstStyle/>
                    <a:p>
                      <a:pPr algn="ctr"/>
                      <a:r>
                        <a:rPr sz="1100" b="1">
                          <a:solidFill>
                            <a:srgbClr val="FFFFFF"/>
                          </a:solidFill>
                          <a:latin typeface="맑은 고딕"/>
                          <a:ea typeface="맑은 고딕"/>
                        </a:rPr>
                        <a:t>조건</a:t>
                      </a:r>
                    </a:p>
                  </a:txBody>
                  <a:tcPr marL="54864" marT="18288" marB="18288" anchor="ctr">
                    <a:solidFill>
                      <a:srgbClr val="1F3B63"/>
                    </a:solidFill>
                  </a:tcPr>
                </a:tc>
              </a:tr>
              <a:tr h="384048">
                <a:tc>
                  <a:txBody>
                    <a:bodyPr wrap="square"/>
                    <a:lstStyle/>
                    <a:p>
                      <a:pPr algn="l"/>
                      <a:r>
                        <a:rPr sz="1100" b="1">
                          <a:solidFill>
                            <a:srgbClr val="C0392B"/>
                          </a:solidFill>
                          <a:latin typeface="맑은 고딕"/>
                          <a:ea typeface="맑은 고딕"/>
                        </a:rPr>
                        <a:t>실사용 검출 성능</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mAP50 0.475 → 0.851 (+79%)</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새 사진 160장 · 박스 218개</a:t>
                      </a:r>
                    </a:p>
                  </a:txBody>
                  <a:tcPr marL="54864" marT="18288" marB="18288" anchor="ctr">
                    <a:solidFill>
                      <a:srgbClr val="EEF3F9"/>
                    </a:solidFill>
                  </a:tcPr>
                </a:tc>
              </a:tr>
              <a:tr h="384048">
                <a:tc>
                  <a:txBody>
                    <a:bodyPr wrap="square"/>
                    <a:lstStyle/>
                    <a:p>
                      <a:pPr algn="l"/>
                      <a:r>
                        <a:rPr sz="1100" b="1">
                          <a:solidFill>
                            <a:srgbClr val="C0392B"/>
                          </a:solidFill>
                          <a:latin typeface="맑은 고딕"/>
                          <a:ea typeface="맑은 고딕"/>
                        </a:rPr>
                        <a:t>승패 판정 정확도</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9가지 조합 중 3/9 → 9/9</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보드 실측</a:t>
                      </a:r>
                    </a:p>
                  </a:txBody>
                  <a:tcPr marL="54864" marT="18288" marB="18288" anchor="ctr">
                    <a:solidFill>
                      <a:srgbClr val="EEF3F9"/>
                    </a:solidFill>
                  </a:tcPr>
                </a:tc>
              </a:tr>
              <a:tr h="384048">
                <a:tc>
                  <a:txBody>
                    <a:bodyPr wrap="square"/>
                    <a:lstStyle/>
                    <a:p>
                      <a:pPr algn="l"/>
                      <a:r>
                        <a:rPr sz="1100" b="0">
                          <a:solidFill>
                            <a:srgbClr val="555555"/>
                          </a:solidFill>
                          <a:latin typeface="맑은 고딕"/>
                          <a:ea typeface="맑은 고딕"/>
                        </a:rPr>
                        <a:t>처리 속도</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68.1 FPS</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320×320 INT8 · CPU 4스레드 · MJPG</a:t>
                      </a:r>
                    </a:p>
                  </a:txBody>
                  <a:tcPr marL="54864" marT="18288" marB="18288" anchor="ctr">
                    <a:solidFill>
                      <a:srgbClr val="FFFFFF"/>
                    </a:solidFill>
                  </a:tcPr>
                </a:tc>
              </a:tr>
              <a:tr h="384048">
                <a:tc>
                  <a:txBody>
                    <a:bodyPr wrap="square"/>
                    <a:lstStyle/>
                    <a:p>
                      <a:pPr algn="l"/>
                      <a:r>
                        <a:rPr sz="1100" b="0">
                          <a:solidFill>
                            <a:srgbClr val="555555"/>
                          </a:solidFill>
                          <a:latin typeface="맑은 고딕"/>
                          <a:ea typeface="맑은 고딕"/>
                        </a:rPr>
                        <a:t>모델 크기</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10.1 MB → 2.9 MB (3.5배 축소)</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PTQ INT8 (입출력 float32)</a:t>
                      </a:r>
                    </a:p>
                  </a:txBody>
                  <a:tcPr marL="54864" marT="18288" marB="18288" anchor="ctr">
                    <a:solidFill>
                      <a:srgbClr val="FFFFFF"/>
                    </a:solidFill>
                  </a:tcPr>
                </a:tc>
              </a:tr>
              <a:tr h="384048">
                <a:tc>
                  <a:txBody>
                    <a:bodyPr wrap="square"/>
                    <a:lstStyle/>
                    <a:p>
                      <a:pPr algn="l"/>
                      <a:r>
                        <a:rPr sz="1100" b="0">
                          <a:solidFill>
                            <a:srgbClr val="555555"/>
                          </a:solidFill>
                          <a:latin typeface="맑은 고딕"/>
                          <a:ea typeface="맑은 고딕"/>
                        </a:rPr>
                        <a:t>학습 데이터</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82장 → 724장 (8.8배)</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박스 100개 → 987개</a:t>
                      </a:r>
                    </a:p>
                  </a:txBody>
                  <a:tcPr marL="54864" marT="18288" marB="18288" anchor="ctr">
                    <a:solidFill>
                      <a:srgbClr val="FFFFFF"/>
                    </a:solidFill>
                  </a:tcPr>
                </a:tc>
              </a:tr>
            </a:tbl>
          </a:graphicData>
        </a:graphic>
      </p:graphicFrame>
      <p:sp>
        <p:nvSpPr>
          <p:cNvPr id="6" name="TextBox 5"/>
          <p:cNvSpPr txBox="1"/>
          <p:nvPr/>
        </p:nvSpPr>
        <p:spPr>
          <a:xfrm>
            <a:off x="6172200" y="4572000"/>
            <a:ext cx="557784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 학습 설정(모델·epoch·증강)은 한 글자도 바꾸지 않고 데이터만 늘렸다.
   개선의 원인을 데이터 하나로 특정할 수 있게 하기 위함.</a:t>
            </a:r>
          </a:p>
        </p:txBody>
      </p:sp>
      <p:pic>
        <p:nvPicPr>
          <p:cNvPr id="7" name="Picture 6" descr="스크린샷 2026-09-17 173242.png"/>
          <p:cNvPicPr>
            <a:picLocks noChangeAspect="1"/>
          </p:cNvPicPr>
          <p:nvPr/>
        </p:nvPicPr>
        <p:blipFill>
          <a:blip r:embed="rId2"/>
          <a:stretch>
            <a:fillRect/>
          </a:stretch>
        </p:blipFill>
        <p:spPr>
          <a:xfrm>
            <a:off x="457200" y="3840480"/>
            <a:ext cx="4228837" cy="2377440"/>
          </a:xfrm>
          <a:prstGeom prst="rect">
            <a:avLst/>
          </a:prstGeom>
        </p:spPr>
      </p:pic>
      <p:sp>
        <p:nvSpPr>
          <p:cNvPr id="8" name="TextBox 7"/>
          <p:cNvSpPr txBox="1"/>
          <p:nvPr/>
        </p:nvSpPr>
        <p:spPr>
          <a:xfrm>
            <a:off x="457200" y="6263640"/>
            <a:ext cx="4297680" cy="274320"/>
          </a:xfrm>
          <a:prstGeom prst="rect">
            <a:avLst/>
          </a:prstGeom>
          <a:noFill/>
        </p:spPr>
        <p:txBody>
          <a:bodyPr wrap="square">
            <a:spAutoFit/>
          </a:bodyPr>
          <a:lstStyle/>
          <a:p>
            <a:pPr algn="ctr">
              <a:spcBef>
                <a:spcPts val="400"/>
              </a:spcBef>
            </a:pPr>
            <a:r>
              <a:rPr sz="1000" b="1">
                <a:solidFill>
                  <a:srgbClr val="2E6DB4"/>
                </a:solidFill>
                <a:latin typeface="맑은 고딕"/>
                <a:ea typeface="맑은 고딕"/>
              </a:rPr>
              <a:t>▲ 그림 1. 게임 실행 화면 (P1 보 vs P2 바위 → P1 승, 68.1 FPS)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2. 개발 목표 및 개발 결과</a:t>
            </a:r>
          </a:p>
          <a:p>
            <a:r>
              <a:rPr sz="1300" b="0">
                <a:solidFill>
                  <a:srgbClr val="C8D8EE"/>
                </a:solidFill>
                <a:latin typeface="맑은 고딕"/>
                <a:ea typeface="맑은 고딕"/>
              </a:rPr>
              <a:t>2-1. 교수님 제시 5단계 과제 — 전부 구현 완료</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5단계 전 과제 구현 완료. 각 단계의 근거 코드와 실행 화면을 아래에 명시</a:t>
            </a:r>
          </a:p>
        </p:txBody>
      </p:sp>
      <p:graphicFrame>
        <p:nvGraphicFramePr>
          <p:cNvPr id="4" name="Table 3"/>
          <p:cNvGraphicFramePr>
            <a:graphicFrameLocks noGrp="1"/>
          </p:cNvGraphicFramePr>
          <p:nvPr/>
        </p:nvGraphicFramePr>
        <p:xfrm>
          <a:off x="457200" y="1920240"/>
          <a:ext cx="11247118" cy="2468880"/>
        </p:xfrm>
        <a:graphic>
          <a:graphicData uri="http://schemas.openxmlformats.org/drawingml/2006/table">
            <a:tbl>
              <a:tblPr firstRow="1" bandRow="1">
                <a:tableStyleId>{5C22544A-7EE6-4342-B048-85BDC9FD1C3A}</a:tableStyleId>
              </a:tblPr>
              <a:tblGrid>
                <a:gridCol w="995320"/>
                <a:gridCol w="4379409"/>
                <a:gridCol w="895788"/>
                <a:gridCol w="4976601"/>
              </a:tblGrid>
              <a:tr h="411480">
                <a:tc>
                  <a:txBody>
                    <a:bodyPr wrap="square"/>
                    <a:lstStyle/>
                    <a:p>
                      <a:pPr algn="l"/>
                      <a:r>
                        <a:rPr sz="1200" b="1">
                          <a:solidFill>
                            <a:srgbClr val="FFFFFF"/>
                          </a:solidFill>
                          <a:latin typeface="맑은 고딕"/>
                          <a:ea typeface="맑은 고딕"/>
                        </a:rPr>
                        <a:t>단계</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구현 과제</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구현</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근거 (RPS_Game.py)</a:t>
                      </a:r>
                    </a:p>
                  </a:txBody>
                  <a:tcPr marL="54864" marT="18288" marB="18288" anchor="ctr">
                    <a:solidFill>
                      <a:srgbClr val="1F3B63"/>
                    </a:solidFill>
                  </a:tcPr>
                </a:tc>
              </a:tr>
              <a:tr h="411480">
                <a:tc>
                  <a:txBody>
                    <a:bodyPr wrap="square"/>
                    <a:lstStyle/>
                    <a:p>
                      <a:pPr algn="l"/>
                      <a:r>
                        <a:rPr sz="1150" b="0">
                          <a:solidFill>
                            <a:srgbClr val="555555"/>
                          </a:solidFill>
                          <a:latin typeface="맑은 고딕"/>
                          <a:ea typeface="맑은 고딕"/>
                        </a:rPr>
                        <a:t>1단계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Bounding Box X좌표로 P1(좌)/P2(우) 나누기</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완료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split_players() — 상자 중심 x 기준 정렬</a:t>
                      </a:r>
                    </a:p>
                  </a:txBody>
                  <a:tcPr marL="54864" marT="18288" marB="18288" anchor="ctr">
                    <a:solidFill>
                      <a:srgbClr val="FFFFFF"/>
                    </a:solidFill>
                  </a:tcPr>
                </a:tc>
              </a:tr>
              <a:tr h="411480">
                <a:tc>
                  <a:txBody>
                    <a:bodyPr wrap="square"/>
                    <a:lstStyle/>
                    <a:p>
                      <a:pPr algn="l"/>
                      <a:r>
                        <a:rPr sz="1150" b="0">
                          <a:solidFill>
                            <a:srgbClr val="555555"/>
                          </a:solidFill>
                          <a:latin typeface="맑은 고딕"/>
                          <a:ea typeface="맑은 고딕"/>
                        </a:rPr>
                        <a:t>2단계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P1 Class vs P2 Class 비교해 승/무/패 출력</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완료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BEATS = {0:2, 1:0, 2:1} 표 기반 judge()</a:t>
                      </a:r>
                    </a:p>
                  </a:txBody>
                  <a:tcPr marL="54864" marT="18288" marB="18288" anchor="ctr">
                    <a:solidFill>
                      <a:srgbClr val="FFFFFF"/>
                    </a:solidFill>
                  </a:tcPr>
                </a:tc>
              </a:tr>
              <a:tr h="411480">
                <a:tc>
                  <a:txBody>
                    <a:bodyPr wrap="square"/>
                    <a:lstStyle/>
                    <a:p>
                      <a:pPr algn="l"/>
                      <a:r>
                        <a:rPr sz="1150" b="0">
                          <a:solidFill>
                            <a:srgbClr val="555555"/>
                          </a:solidFill>
                          <a:latin typeface="맑은 고딕"/>
                          <a:ea typeface="맑은 고딕"/>
                        </a:rPr>
                        <a:t>3단계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손이 2개가 아닐 때 예외 메시지</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완료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len(boxes) 분기 → 화면 하단 안내 문구</a:t>
                      </a:r>
                    </a:p>
                  </a:txBody>
                  <a:tcPr marL="54864" marT="18288" marB="18288" anchor="ctr">
                    <a:solidFill>
                      <a:srgbClr val="FFFFFF"/>
                    </a:solidFill>
                  </a:tcPr>
                </a:tc>
              </a:tr>
              <a:tr h="411480">
                <a:tc>
                  <a:txBody>
                    <a:bodyPr wrap="square"/>
                    <a:lstStyle/>
                    <a:p>
                      <a:pPr algn="l"/>
                      <a:r>
                        <a:rPr sz="1150" b="0">
                          <a:solidFill>
                            <a:srgbClr val="555555"/>
                          </a:solidFill>
                          <a:latin typeface="맑은 고딕"/>
                          <a:ea typeface="맑은 고딕"/>
                        </a:rPr>
                        <a:t>4단계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3-2-1 카운트다운 후 판정 순간 Freeze</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완료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상태 기계 + frozen = frame.copy()</a:t>
                      </a:r>
                    </a:p>
                  </a:txBody>
                  <a:tcPr marL="54864" marT="18288" marB="18288" anchor="ctr">
                    <a:solidFill>
                      <a:srgbClr val="FFFFFF"/>
                    </a:solidFill>
                  </a:tcPr>
                </a:tc>
              </a:tr>
              <a:tr h="411480">
                <a:tc>
                  <a:txBody>
                    <a:bodyPr wrap="square"/>
                    <a:lstStyle/>
                    <a:p>
                      <a:pPr algn="l"/>
                      <a:r>
                        <a:rPr sz="1150" b="0">
                          <a:solidFill>
                            <a:srgbClr val="555555"/>
                          </a:solidFill>
                          <a:latin typeface="맑은 고딕"/>
                          <a:ea typeface="맑은 고딕"/>
                        </a:rPr>
                        <a:t>5단계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스코어보드 · 승패 효과음 · 재시작 키</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완료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draw_scoreboard() / play() / SPACE·r·q</a:t>
                      </a:r>
                    </a:p>
                  </a:txBody>
                  <a:tcPr marL="54864" marT="18288" marB="18288" anchor="ctr">
                    <a:solidFill>
                      <a:srgbClr val="FFFFFF"/>
                    </a:solidFill>
                  </a:tcPr>
                </a:tc>
              </a:tr>
            </a:tbl>
          </a:graphicData>
        </a:graphic>
      </p:graphicFrame>
      <p:sp>
        <p:nvSpPr>
          <p:cNvPr id="5" name="TextBox 4"/>
          <p:cNvSpPr txBox="1"/>
          <p:nvPr/>
        </p:nvSpPr>
        <p:spPr>
          <a:xfrm>
            <a:off x="457200" y="4480560"/>
            <a:ext cx="11247120" cy="201168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4단계 상태 기계 — 실패하던 판정을 고친 부분</a:t>
            </a:r>
          </a:p>
          <a:p>
            <a:pPr algn="l">
              <a:spcBef>
                <a:spcPts val="800"/>
              </a:spcBef>
            </a:pPr>
            <a:r>
              <a:rPr sz="1300" b="1">
                <a:solidFill>
                  <a:srgbClr val="2E6DB4"/>
                </a:solidFill>
                <a:latin typeface="맑은 고딕"/>
                <a:ea typeface="맑은 고딕"/>
              </a:rPr>
              <a:t>READY  ─SPACE→  COUNT(3초)  ─0초→  JUDGING(유예 2초)  ─손 2개→  RESULT(2.5초)  →  READY</a:t>
            </a:r>
          </a:p>
          <a:p>
            <a:pPr algn="l">
              <a:spcBef>
                <a:spcPts val="800"/>
              </a:spcBef>
            </a:pPr>
            <a:r>
              <a:rPr sz="1200" b="0">
                <a:latin typeface="맑은 고딕"/>
                <a:ea typeface="맑은 고딕"/>
              </a:rPr>
              <a:t>처음에는 카운트가 0이 되는 "한 프레임"에서만 판정했다. 그러나 보드는 초당 11장을 처리하므로 그 순간에 두 손이 정확히 잡힐 확률이 낮아 거의 매번 판정이 취소되었다. JUDGING 유예 구간(2초)을 두어 "0이 된 뒤 두 손이 처음 잡히는 프레임"으로 판정하도록 바꿔 해결했다.</a:t>
            </a:r>
          </a:p>
          <a:p>
            <a:pPr algn="l">
              <a:spcBef>
                <a:spcPts val="600"/>
              </a:spcBef>
            </a:pPr>
            <a:r>
              <a:rPr sz="1200" b="1">
                <a:solidFill>
                  <a:srgbClr val="1E8A4C"/>
                </a:solidFill>
                <a:latin typeface="맑은 고딕"/>
                <a:ea typeface="맑은 고딕"/>
              </a:rPr>
              <a:t>→ 유예 안에 두 손을 못 찾으면 Cancelled 안내 후 READY로 복귀 (3단계 예외 처리와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2. 개발 목표 및 개발 결과</a:t>
            </a:r>
          </a:p>
          <a:p>
            <a:r>
              <a:rPr sz="1300" b="0">
                <a:solidFill>
                  <a:srgbClr val="C8D8EE"/>
                </a:solidFill>
                <a:latin typeface="맑은 고딕"/>
                <a:ea typeface="맑은 고딕"/>
              </a:rPr>
              <a:t>2-2. 과제 범위 밖에서 스스로 발견하고 해결한 것</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"동작한다"에서 멈추지 않고, 측정 → 원인 규명 → 도구 제작 → 재검증의 순서로 진행</a:t>
            </a:r>
          </a:p>
        </p:txBody>
      </p:sp>
      <p:graphicFrame>
        <p:nvGraphicFramePr>
          <p:cNvPr id="4" name="Table 3"/>
          <p:cNvGraphicFramePr>
            <a:graphicFrameLocks noGrp="1"/>
          </p:cNvGraphicFramePr>
          <p:nvPr/>
        </p:nvGraphicFramePr>
        <p:xfrm>
          <a:off x="457200" y="1920240"/>
          <a:ext cx="11247120" cy="3328416"/>
        </p:xfrm>
        <a:graphic>
          <a:graphicData uri="http://schemas.openxmlformats.org/drawingml/2006/table">
            <a:tbl>
              <a:tblPr firstRow="1" bandRow="1">
                <a:tableStyleId>{5C22544A-7EE6-4342-B048-85BDC9FD1C3A}</a:tableStyleId>
              </a:tblPr>
              <a:tblGrid>
                <a:gridCol w="3017520"/>
                <a:gridCol w="3657600"/>
                <a:gridCol w="4572000"/>
              </a:tblGrid>
              <a:tr h="475488">
                <a:tc>
                  <a:txBody>
                    <a:bodyPr wrap="square"/>
                    <a:lstStyle/>
                    <a:p>
                      <a:pPr algn="l"/>
                      <a:r>
                        <a:rPr sz="1200" b="1">
                          <a:solidFill>
                            <a:srgbClr val="FFFFFF"/>
                          </a:solidFill>
                          <a:latin typeface="맑은 고딕"/>
                          <a:ea typeface="맑은 고딕"/>
                        </a:rPr>
                        <a:t>발견한 문제</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왜 문제인가</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만든 것 / 결과</a:t>
                      </a:r>
                    </a:p>
                  </a:txBody>
                  <a:tcPr marL="54864" marT="18288" marB="18288" anchor="ctr">
                    <a:solidFill>
                      <a:srgbClr val="1F3B63"/>
                    </a:solidFill>
                  </a:tcPr>
                </a:tc>
              </a:tr>
              <a:tr h="475488">
                <a:tc>
                  <a:txBody>
                    <a:bodyPr wrap="square"/>
                    <a:lstStyle/>
                    <a:p>
                      <a:pPr algn="l"/>
                      <a:r>
                        <a:rPr sz="1100" b="0">
                          <a:solidFill>
                            <a:srgbClr val="555555"/>
                          </a:solidFill>
                          <a:latin typeface="맑은 고딕"/>
                          <a:ea typeface="맑은 고딕"/>
                        </a:rPr>
                        <a:t>성능이 느린데 어디가 느린지 모름</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"느리다"는 인상만으로는 고칠 수 없음</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trace_util.py — Chrome Trace 형식 타임라인 직접 구현</a:t>
                      </a:r>
                    </a:p>
                  </a:txBody>
                  <a:tcPr marL="54864" marT="18288" marB="18288" anchor="ctr">
                    <a:solidFill>
                      <a:srgbClr val="FFFFFF"/>
                    </a:solidFill>
                  </a:tcPr>
                </a:tc>
              </a:tr>
              <a:tr h="475488">
                <a:tc>
                  <a:txBody>
                    <a:bodyPr wrap="square"/>
                    <a:lstStyle/>
                    <a:p>
                      <a:pPr algn="l"/>
                      <a:r>
                        <a:rPr sz="1100" b="0">
                          <a:solidFill>
                            <a:srgbClr val="555555"/>
                          </a:solidFill>
                          <a:latin typeface="맑은 고딕"/>
                          <a:ea typeface="맑은 고딕"/>
                        </a:rPr>
                        <a:t>한 프레임 60.5 ms 중 추론 밖이 70%</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모델만 줄여서는 빨라지지 않음</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파이프라인 4단계 최적화 → 60.54 ms → 23.19 ms</a:t>
                      </a:r>
                    </a:p>
                  </a:txBody>
                  <a:tcPr marL="54864" marT="18288" marB="18288" anchor="ctr">
                    <a:solidFill>
                      <a:srgbClr val="FFFFFF"/>
                    </a:solidFill>
                  </a:tcPr>
                </a:tc>
              </a:tr>
              <a:tr h="475488">
                <a:tc>
                  <a:txBody>
                    <a:bodyPr wrap="square"/>
                    <a:lstStyle/>
                    <a:p>
                      <a:pPr algn="l"/>
                      <a:r>
                        <a:rPr sz="1100" b="0">
                          <a:solidFill>
                            <a:srgbClr val="555555"/>
                          </a:solidFill>
                          <a:latin typeface="맑은 고딕"/>
                          <a:ea typeface="맑은 고딕"/>
                        </a:rPr>
                        <a:t>mAP 0.995인데 어두운 옷 앞에서 실패</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검증 점수가 실사용 성능을 대변하지 못함</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학습 데이터 104장 픽셀 직접 측정 → 원인 규명</a:t>
                      </a:r>
                    </a:p>
                  </a:txBody>
                  <a:tcPr marL="54864" marT="18288" marB="18288" anchor="ctr">
                    <a:solidFill>
                      <a:srgbClr val="FFFFFF"/>
                    </a:solidFill>
                  </a:tcPr>
                </a:tc>
              </a:tr>
              <a:tr h="475488">
                <a:tc>
                  <a:txBody>
                    <a:bodyPr wrap="square"/>
                    <a:lstStyle/>
                    <a:p>
                      <a:pPr algn="l"/>
                      <a:r>
                        <a:rPr sz="1100" b="0">
                          <a:solidFill>
                            <a:srgbClr val="555555"/>
                          </a:solidFill>
                          <a:latin typeface="맑은 고딕"/>
                          <a:ea typeface="맑은 고딕"/>
                        </a:rPr>
                        <a:t>교수님 데이터가 xml이라 재학습 불가</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YOLO는 txt만 읽음. 형식 오류는 조용히 실패함</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make_dataset.py — 변환·병합·전수 검사 자동화</a:t>
                      </a:r>
                    </a:p>
                  </a:txBody>
                  <a:tcPr marL="54864" marT="18288" marB="18288" anchor="ctr">
                    <a:solidFill>
                      <a:srgbClr val="FFFFFF"/>
                    </a:solidFill>
                  </a:tcPr>
                </a:tc>
              </a:tr>
              <a:tr h="475488">
                <a:tc>
                  <a:txBody>
                    <a:bodyPr wrap="square"/>
                    <a:lstStyle/>
                    <a:p>
                      <a:pPr algn="l"/>
                      <a:r>
                        <a:rPr sz="1100" b="0">
                          <a:solidFill>
                            <a:srgbClr val="555555"/>
                          </a:solidFill>
                          <a:latin typeface="맑은 고딕"/>
                          <a:ea typeface="맑은 고딕"/>
                        </a:rPr>
                        <a:t>라벨링 실수가 조용히 학습을 망침</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클래스 번호가 밀려도 오류가 나지 않음</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check_labels.py — 폴더명과 라벨을 기계 대조</a:t>
                      </a:r>
                    </a:p>
                  </a:txBody>
                  <a:tcPr marL="54864" marT="18288" marB="18288" anchor="ctr">
                    <a:solidFill>
                      <a:srgbClr val="FFFFFF"/>
                    </a:solidFill>
                  </a:tcPr>
                </a:tc>
              </a:tr>
              <a:tr h="475488">
                <a:tc>
                  <a:txBody>
                    <a:bodyPr wrap="square"/>
                    <a:lstStyle/>
                    <a:p>
                      <a:pPr algn="l"/>
                      <a:r>
                        <a:rPr sz="1100" b="0">
                          <a:solidFill>
                            <a:srgbClr val="555555"/>
                          </a:solidFill>
                          <a:latin typeface="맑은 고딕"/>
                          <a:ea typeface="맑은 고딕"/>
                        </a:rPr>
                        <a:t>혼자서 데이터 촬영이 불가능</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키를 60번 누르며 손을 내밀 수 없음</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EX_01_Auto_Capture.py — 자동 촬영 + 중복 제거</a:t>
                      </a:r>
                    </a:p>
                  </a:txBody>
                  <a:tcPr marL="54864" marT="18288" marB="18288" anchor="ctr">
                    <a:solidFill>
                      <a:srgbClr val="FFFFFF"/>
                    </a:solidFill>
                  </a:tcPr>
                </a:tc>
              </a:tr>
            </a:tbl>
          </a:graphicData>
        </a:graphic>
      </p:graphicFrame>
      <p:sp>
        <p:nvSpPr>
          <p:cNvPr id="5" name="TextBox 4"/>
          <p:cNvSpPr txBox="1"/>
          <p:nvPr/>
        </p:nvSpPr>
        <p:spPr>
          <a:xfrm>
            <a:off x="457200" y="5760720"/>
            <a:ext cx="1124712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 직접 작성한 파일 10종을 제출물에 포함. 모두 교수님 원본 예제를 수정하지 않고 사본으로 작업.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3. 핵심 기술</a:t>
            </a:r>
          </a:p>
          <a:p>
            <a:r>
              <a:rPr sz="1300" b="0">
                <a:solidFill>
                  <a:srgbClr val="C8D8EE"/>
                </a:solidFill>
                <a:latin typeface="맑은 고딕"/>
                <a:ea typeface="맑은 고딕"/>
              </a:rPr>
              <a:t>3-1. 분류(Classification)에서 검출(Detection)로 — 게임이 성립한 이유</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검출 모델은 "무엇인가"와 "어디인가"를 함께 출력한다. 두 손을 동시에 다룰 수 있게 된 결정적 차이</a:t>
            </a:r>
          </a:p>
        </p:txBody>
      </p:sp>
      <p:graphicFrame>
        <p:nvGraphicFramePr>
          <p:cNvPr id="4" name="Table 3"/>
          <p:cNvGraphicFramePr>
            <a:graphicFrameLocks noGrp="1"/>
          </p:cNvGraphicFramePr>
          <p:nvPr/>
        </p:nvGraphicFramePr>
        <p:xfrm>
          <a:off x="457200" y="1920240"/>
          <a:ext cx="11247120" cy="2304288"/>
        </p:xfrm>
        <a:graphic>
          <a:graphicData uri="http://schemas.openxmlformats.org/drawingml/2006/table">
            <a:tbl>
              <a:tblPr firstRow="1" bandRow="1">
                <a:tableStyleId>{5C22544A-7EE6-4342-B048-85BDC9FD1C3A}</a:tableStyleId>
              </a:tblPr>
              <a:tblGrid>
                <a:gridCol w="1828800"/>
                <a:gridCol w="4572000"/>
                <a:gridCol w="4846320"/>
              </a:tblGrid>
              <a:tr h="384048">
                <a:tc>
                  <a:txBody>
                    <a:bodyPr wrap="square"/>
                    <a:lstStyle/>
                    <a:p>
                      <a:pPr algn="l"/>
                      <a:r>
                        <a:rPr sz="1200" b="1">
                          <a:solidFill>
                            <a:srgbClr val="FFFFFF"/>
                          </a:solidFill>
                          <a:latin typeface="맑은 고딕"/>
                          <a:ea typeface="맑은 고딕"/>
                        </a:rPr>
                        <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이전 실습 (MobileNetV2 분류)</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본 프로젝트 (YOLO11n 검출)</a:t>
                      </a:r>
                    </a:p>
                  </a:txBody>
                  <a:tcPr marL="54864" marT="18288" marB="18288" anchor="ctr">
                    <a:solidFill>
                      <a:srgbClr val="1F3B63"/>
                    </a:solidFill>
                  </a:tcPr>
                </a:tc>
              </a:tr>
              <a:tr h="384048">
                <a:tc>
                  <a:txBody>
                    <a:bodyPr wrap="square"/>
                    <a:lstStyle/>
                    <a:p>
                      <a:pPr algn="l"/>
                      <a:r>
                        <a:rPr sz="1150" b="0">
                          <a:solidFill>
                            <a:srgbClr val="555555"/>
                          </a:solidFill>
                          <a:latin typeface="맑은 고딕"/>
                          <a:ea typeface="맑은 고딕"/>
                        </a:rPr>
                        <a:t>모델 입력</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MediaPipe가 손만 잘라낸 조각</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사진 전체 (320×320)</a:t>
                      </a:r>
                    </a:p>
                  </a:txBody>
                  <a:tcPr marL="54864" marT="18288" marB="18288" anchor="ctr">
                    <a:solidFill>
                      <a:srgbClr val="FFFFFF"/>
                    </a:solidFill>
                  </a:tcPr>
                </a:tc>
              </a:tr>
              <a:tr h="384048">
                <a:tc>
                  <a:txBody>
                    <a:bodyPr wrap="square"/>
                    <a:lstStyle/>
                    <a:p>
                      <a:pPr algn="l"/>
                      <a:r>
                        <a:rPr sz="1150" b="0">
                          <a:solidFill>
                            <a:srgbClr val="555555"/>
                          </a:solidFill>
                          <a:latin typeface="맑은 고딕"/>
                          <a:ea typeface="맑은 고딕"/>
                        </a:rPr>
                        <a:t>출력</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클래스 1개 (화면 전체에 하나의 답)</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박스 2,100개 후보 → 필터 → 최종 박스들</a:t>
                      </a:r>
                    </a:p>
                  </a:txBody>
                  <a:tcPr marL="54864" marT="18288" marB="18288" anchor="ctr">
                    <a:solidFill>
                      <a:srgbClr val="FFFFFF"/>
                    </a:solidFill>
                  </a:tcPr>
                </a:tc>
              </a:tr>
              <a:tr h="384048">
                <a:tc>
                  <a:txBody>
                    <a:bodyPr wrap="square"/>
                    <a:lstStyle/>
                    <a:p>
                      <a:pPr algn="l"/>
                      <a:r>
                        <a:rPr sz="1150" b="1">
                          <a:solidFill>
                            <a:srgbClr val="C0392B"/>
                          </a:solidFill>
                          <a:latin typeface="맑은 고딕"/>
                          <a:ea typeface="맑은 고딕"/>
                        </a:rPr>
                        <a:t>손 2개 처리</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불가능</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가능 — 게임이 성립하는 이유</a:t>
                      </a:r>
                    </a:p>
                  </a:txBody>
                  <a:tcPr marL="54864" marT="18288" marB="18288" anchor="ctr">
                    <a:solidFill>
                      <a:srgbClr val="EEF3F9"/>
                    </a:solidFill>
                  </a:tcPr>
                </a:tc>
              </a:tr>
              <a:tr h="384048">
                <a:tc>
                  <a:txBody>
                    <a:bodyPr wrap="square"/>
                    <a:lstStyle/>
                    <a:p>
                      <a:pPr algn="l"/>
                      <a:r>
                        <a:rPr sz="1150" b="0">
                          <a:solidFill>
                            <a:srgbClr val="555555"/>
                          </a:solidFill>
                          <a:latin typeface="맑은 고딕"/>
                          <a:ea typeface="맑은 고딕"/>
                        </a:rPr>
                        <a:t>손 위치</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알 수 없음</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x 좌표로 P1/P2 구분 가능</a:t>
                      </a:r>
                    </a:p>
                  </a:txBody>
                  <a:tcPr marL="54864" marT="18288" marB="18288" anchor="ctr">
                    <a:solidFill>
                      <a:srgbClr val="FFFFFF"/>
                    </a:solidFill>
                  </a:tcPr>
                </a:tc>
              </a:tr>
              <a:tr h="384048">
                <a:tc>
                  <a:txBody>
                    <a:bodyPr wrap="square"/>
                    <a:lstStyle/>
                    <a:p>
                      <a:pPr algn="l"/>
                      <a:r>
                        <a:rPr sz="1150" b="0">
                          <a:solidFill>
                            <a:srgbClr val="555555"/>
                          </a:solidFill>
                          <a:latin typeface="맑은 고딕"/>
                          <a:ea typeface="맑은 고딕"/>
                        </a:rPr>
                        <a:t>후처리</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없음 (argmax 한 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약 40줄 (신뢰도 필터 → NMS → 좌표 복원)</a:t>
                      </a:r>
                    </a:p>
                  </a:txBody>
                  <a:tcPr marL="54864" marT="18288" marB="18288" anchor="ctr">
                    <a:solidFill>
                      <a:srgbClr val="FFFFFF"/>
                    </a:solidFill>
                  </a:tcPr>
                </a:tc>
              </a:tr>
            </a:tbl>
          </a:graphicData>
        </a:graphic>
      </p:graphicFrame>
      <p:sp>
        <p:nvSpPr>
          <p:cNvPr id="5" name="TextBox 4"/>
          <p:cNvSpPr txBox="1"/>
          <p:nvPr/>
        </p:nvSpPr>
        <p:spPr>
          <a:xfrm>
            <a:off x="457200" y="4480560"/>
            <a:ext cx="11247120" cy="201168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후처리 3단계 (직접 구현)</a:t>
            </a:r>
          </a:p>
          <a:p>
            <a:pPr algn="l">
              <a:spcBef>
                <a:spcPts val="600"/>
              </a:spcBef>
            </a:pPr>
            <a:r>
              <a:rPr sz="1250" b="0">
                <a:latin typeface="맑은 고딕"/>
                <a:ea typeface="맑은 고딕"/>
              </a:rPr>
              <a:t>① 신뢰도 필터 : 2,100개 후보 중 conf ≥ 0.4 만 남긴다</a:t>
            </a:r>
          </a:p>
          <a:p>
            <a:pPr algn="l">
              <a:spcBef>
                <a:spcPts val="400"/>
              </a:spcBef>
            </a:pPr>
            <a:r>
              <a:rPr sz="1250" b="0">
                <a:latin typeface="맑은 고딕"/>
                <a:ea typeface="맑은 고딕"/>
              </a:rPr>
              <a:t>② NMS : 같은 손에 겹쳐 잡힌 박스를 하나로 정리 (cv2.dnn.NMSBoxesBatched, IoU 0.45)</a:t>
            </a:r>
          </a:p>
          <a:p>
            <a:pPr algn="l">
              <a:spcBef>
                <a:spcPts val="400"/>
              </a:spcBef>
            </a:pPr>
            <a:r>
              <a:rPr sz="1250" b="0">
                <a:latin typeface="맑은 고딕"/>
                <a:ea typeface="맑은 고딕"/>
              </a:rPr>
              <a:t>③ 좌표 복원 : letterbox(비율 유지 + 회색 114 여백)로 줄인 좌표를 원본 해상도로 되돌린다</a:t>
            </a:r>
          </a:p>
          <a:p>
            <a:pPr algn="l">
              <a:spcBef>
                <a:spcPts val="800"/>
              </a:spcBef>
            </a:pPr>
            <a:r>
              <a:rPr sz="1200" b="1">
                <a:solidFill>
                  <a:srgbClr val="1E8A4C"/>
                </a:solidFill>
                <a:latin typeface="맑은 고딕"/>
                <a:ea typeface="맑은 고딕"/>
              </a:rPr>
              <a:t>측정 결과 후처리 전체가 한 프레임당 0.36 ms — 코드 길이가 실행 시간을 뜻하지 않음을 확인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3. 핵심 기술</a:t>
            </a:r>
          </a:p>
          <a:p>
            <a:r>
              <a:rPr sz="1300" b="0">
                <a:solidFill>
                  <a:srgbClr val="C8D8EE"/>
                </a:solidFill>
                <a:latin typeface="맑은 고딕"/>
                <a:ea typeface="맑은 고딕"/>
              </a:rPr>
              <a:t>3-2. 모델 경량화(PTQ)와 파이프라인 최적화</a:t>
            </a:r>
          </a:p>
        </p:txBody>
      </p:sp>
      <p:sp>
        <p:nvSpPr>
          <p:cNvPr id="3" name="Rectangle 2"/>
          <p:cNvSpPr/>
          <p:nvPr/>
        </p:nvSpPr>
        <p:spPr>
          <a:xfrm>
            <a:off x="457200" y="1143000"/>
            <a:ext cx="548640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400" b="1">
                <a:solidFill>
                  <a:srgbClr val="1F3B63"/>
                </a:solidFill>
                <a:latin typeface="맑은 고딕"/>
                <a:ea typeface="맑은 고딕"/>
              </a:rPr>
              <a:t>모델 3.5배 축소, 정확도 손실 없음</a:t>
            </a:r>
          </a:p>
        </p:txBody>
      </p:sp>
      <p:sp>
        <p:nvSpPr>
          <p:cNvPr id="4" name="Rectangle 3"/>
          <p:cNvSpPr/>
          <p:nvPr/>
        </p:nvSpPr>
        <p:spPr>
          <a:xfrm>
            <a:off x="6217920" y="1143000"/>
            <a:ext cx="548640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400" b="1">
                <a:solidFill>
                  <a:srgbClr val="1F3B63"/>
                </a:solidFill>
                <a:latin typeface="맑은 고딕"/>
                <a:ea typeface="맑은 고딕"/>
              </a:rPr>
              <a:t>파이프라인 60.54 ms → 23.19 ms (2.6배)</a:t>
            </a:r>
          </a:p>
        </p:txBody>
      </p:sp>
      <p:sp>
        <p:nvSpPr>
          <p:cNvPr id="5" name="TextBox 4"/>
          <p:cNvSpPr txBox="1"/>
          <p:nvPr/>
        </p:nvSpPr>
        <p:spPr>
          <a:xfrm>
            <a:off x="457200" y="1828800"/>
            <a:ext cx="5486400" cy="36576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PTQ 양자화 결과</a:t>
            </a:r>
          </a:p>
        </p:txBody>
      </p:sp>
      <p:graphicFrame>
        <p:nvGraphicFramePr>
          <p:cNvPr id="6" name="Table 5"/>
          <p:cNvGraphicFramePr>
            <a:graphicFrameLocks noGrp="1"/>
          </p:cNvGraphicFramePr>
          <p:nvPr/>
        </p:nvGraphicFramePr>
        <p:xfrm>
          <a:off x="457200" y="2240280"/>
          <a:ext cx="5486400" cy="1389888"/>
        </p:xfrm>
        <a:graphic>
          <a:graphicData uri="http://schemas.openxmlformats.org/drawingml/2006/table">
            <a:tbl>
              <a:tblPr firstRow="1" bandRow="1">
                <a:tableStyleId>{5C22544A-7EE6-4342-B048-85BDC9FD1C3A}</a:tableStyleId>
              </a:tblPr>
              <a:tblGrid>
                <a:gridCol w="2011680"/>
                <a:gridCol w="1188720"/>
                <a:gridCol w="2286000"/>
              </a:tblGrid>
              <a:tr h="347472">
                <a:tc>
                  <a:txBody>
                    <a:bodyPr wrap="square"/>
                    <a:lstStyle/>
                    <a:p>
                      <a:pPr algn="l"/>
                      <a:r>
                        <a:rPr sz="1200" b="1">
                          <a:solidFill>
                            <a:srgbClr val="FFFFFF"/>
                          </a:solidFill>
                          <a:latin typeface="맑은 고딕"/>
                          <a:ea typeface="맑은 고딕"/>
                        </a:rPr>
                        <a:t>모델</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크기</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방식</a:t>
                      </a:r>
                    </a:p>
                  </a:txBody>
                  <a:tcPr marL="54864" marT="18288" marB="18288" anchor="ctr">
                    <a:solidFill>
                      <a:srgbClr val="1F3B63"/>
                    </a:solidFill>
                  </a:tcPr>
                </a:tc>
              </a:tr>
              <a:tr h="347472">
                <a:tc>
                  <a:txBody>
                    <a:bodyPr wrap="square"/>
                    <a:lstStyle/>
                    <a:p>
                      <a:pPr algn="l"/>
                      <a:r>
                        <a:rPr sz="1100" b="0">
                          <a:solidFill>
                            <a:srgbClr val="555555"/>
                          </a:solidFill>
                          <a:latin typeface="맑은 고딕"/>
                          <a:ea typeface="맑은 고딕"/>
                        </a:rPr>
                        <a:t>best.tflite</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10.1 MB</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float32 (기준)</a:t>
                      </a:r>
                    </a:p>
                  </a:txBody>
                  <a:tcPr marL="54864" marT="18288" marB="18288" anchor="ctr">
                    <a:solidFill>
                      <a:srgbClr val="FFFFFF"/>
                    </a:solidFill>
                  </a:tcPr>
                </a:tc>
              </a:tr>
              <a:tr h="347472">
                <a:tc>
                  <a:txBody>
                    <a:bodyPr wrap="square"/>
                    <a:lstStyle/>
                    <a:p>
                      <a:pPr algn="l"/>
                      <a:r>
                        <a:rPr sz="1100" b="0">
                          <a:solidFill>
                            <a:srgbClr val="555555"/>
                          </a:solidFill>
                          <a:latin typeface="맑은 고딕"/>
                          <a:ea typeface="맑은 고딕"/>
                        </a:rPr>
                        <a:t>best_int8.tflite</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2.9 MB</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PTQ INT8 (보정 데이터 필요)</a:t>
                      </a:r>
                    </a:p>
                  </a:txBody>
                  <a:tcPr marL="54864" marT="18288" marB="18288" anchor="ctr">
                    <a:solidFill>
                      <a:srgbClr val="FFFFFF"/>
                    </a:solidFill>
                  </a:tcPr>
                </a:tc>
              </a:tr>
              <a:tr h="347472">
                <a:tc>
                  <a:txBody>
                    <a:bodyPr wrap="square"/>
                    <a:lstStyle/>
                    <a:p>
                      <a:pPr algn="l"/>
                      <a:r>
                        <a:rPr sz="1100" b="0">
                          <a:solidFill>
                            <a:srgbClr val="555555"/>
                          </a:solidFill>
                          <a:latin typeface="맑은 고딕"/>
                          <a:ea typeface="맑은 고딕"/>
                        </a:rPr>
                        <a:t>best_w8a32.tflite</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2.8 MB</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Dynamic Range (보정 불필요)</a:t>
                      </a:r>
                    </a:p>
                  </a:txBody>
                  <a:tcPr marL="54864" marT="18288" marB="18288" anchor="ctr">
                    <a:solidFill>
                      <a:srgbClr val="FFFFFF"/>
                    </a:solidFill>
                  </a:tcPr>
                </a:tc>
              </a:tr>
            </a:tbl>
          </a:graphicData>
        </a:graphic>
      </p:graphicFrame>
      <p:sp>
        <p:nvSpPr>
          <p:cNvPr id="7" name="TextBox 6"/>
          <p:cNvSpPr txBox="1"/>
          <p:nvPr/>
        </p:nvSpPr>
        <p:spPr>
          <a:xfrm>
            <a:off x="457200" y="3749039"/>
            <a:ext cx="548640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세 모델 모두 입출력은 float32로 유지된다. 그래서 보드 코드에서 scale/zero 환산 없이
모델 파일 이름만 바꿔 교체할 수 있다.</a:t>
            </a:r>
          </a:p>
        </p:txBody>
      </p:sp>
      <p:sp>
        <p:nvSpPr>
          <p:cNvPr id="8" name="TextBox 7"/>
          <p:cNvSpPr txBox="1"/>
          <p:nvPr/>
        </p:nvSpPr>
        <p:spPr>
          <a:xfrm>
            <a:off x="6217920" y="1828800"/>
            <a:ext cx="5486400" cy="36576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파이프라인 4단계 최적화 (측정 기반)</a:t>
            </a:r>
          </a:p>
        </p:txBody>
      </p:sp>
      <p:graphicFrame>
        <p:nvGraphicFramePr>
          <p:cNvPr id="9" name="Table 8"/>
          <p:cNvGraphicFramePr>
            <a:graphicFrameLocks noGrp="1"/>
          </p:cNvGraphicFramePr>
          <p:nvPr/>
        </p:nvGraphicFramePr>
        <p:xfrm>
          <a:off x="6217920" y="2240280"/>
          <a:ext cx="5486400" cy="2084832"/>
        </p:xfrm>
        <a:graphic>
          <a:graphicData uri="http://schemas.openxmlformats.org/drawingml/2006/table">
            <a:tbl>
              <a:tblPr firstRow="1" bandRow="1">
                <a:tableStyleId>{5C22544A-7EE6-4342-B048-85BDC9FD1C3A}</a:tableStyleId>
              </a:tblPr>
              <a:tblGrid>
                <a:gridCol w="822960"/>
                <a:gridCol w="3108960"/>
                <a:gridCol w="1554480"/>
              </a:tblGrid>
              <a:tr h="347472">
                <a:tc>
                  <a:txBody>
                    <a:bodyPr wrap="square"/>
                    <a:lstStyle/>
                    <a:p>
                      <a:pPr algn="l"/>
                      <a:r>
                        <a:rPr sz="1200" b="1">
                          <a:solidFill>
                            <a:srgbClr val="FFFFFF"/>
                          </a:solidFill>
                          <a:latin typeface="맑은 고딕"/>
                          <a:ea typeface="맑은 고딕"/>
                        </a:rPr>
                        <a:t>단계</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조치</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한 프레임</a:t>
                      </a:r>
                    </a:p>
                  </a:txBody>
                  <a:tcPr marL="54864" marT="18288" marB="18288" anchor="ctr">
                    <a:solidFill>
                      <a:srgbClr val="1F3B63"/>
                    </a:solidFill>
                  </a:tcPr>
                </a:tc>
              </a:tr>
              <a:tr h="347472">
                <a:tc>
                  <a:txBody>
                    <a:bodyPr wrap="square"/>
                    <a:lstStyle/>
                    <a:p>
                      <a:pPr algn="l"/>
                      <a:r>
                        <a:rPr sz="1100" b="0">
                          <a:solidFill>
                            <a:srgbClr val="555555"/>
                          </a:solidFill>
                          <a:latin typeface="맑은 고딕"/>
                          <a:ea typeface="맑은 고딕"/>
                        </a:rPr>
                        <a:t>기준</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원본 코드</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60.54 ms</a:t>
                      </a:r>
                    </a:p>
                  </a:txBody>
                  <a:tcPr marL="54864" marT="18288" marB="18288" anchor="ctr">
                    <a:solidFill>
                      <a:srgbClr val="FFFFFF"/>
                    </a:solidFill>
                  </a:tcPr>
                </a:tc>
              </a:tr>
              <a:tr h="347472">
                <a:tc>
                  <a:txBody>
                    <a:bodyPr wrap="square"/>
                    <a:lstStyle/>
                    <a:p>
                      <a:pPr algn="l"/>
                      <a:r>
                        <a:rPr sz="1100" b="0">
                          <a:solidFill>
                            <a:srgbClr val="555555"/>
                          </a:solidFill>
                          <a:latin typeface="맑은 고딕"/>
                          <a:ea typeface="맑은 고딕"/>
                        </a:rPr>
                        <a:t>1</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waitKey(10) → waitKey(1)</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48.3 ms</a:t>
                      </a:r>
                    </a:p>
                  </a:txBody>
                  <a:tcPr marL="54864" marT="18288" marB="18288" anchor="ctr">
                    <a:solidFill>
                      <a:srgbClr val="FFFFFF"/>
                    </a:solidFill>
                  </a:tcPr>
                </a:tc>
              </a:tr>
              <a:tr h="347472">
                <a:tc>
                  <a:txBody>
                    <a:bodyPr wrap="square"/>
                    <a:lstStyle/>
                    <a:p>
                      <a:pPr algn="l"/>
                      <a:r>
                        <a:rPr sz="1100" b="0">
                          <a:solidFill>
                            <a:srgbClr val="555555"/>
                          </a:solidFill>
                          <a:latin typeface="맑은 고딕"/>
                          <a:ea typeface="맑은 고딕"/>
                        </a:rPr>
                        <a:t>2</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카메라 읽기를 별도 스레드로</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34.9 ms</a:t>
                      </a:r>
                    </a:p>
                  </a:txBody>
                  <a:tcPr marL="54864" marT="18288" marB="18288" anchor="ctr">
                    <a:solidFill>
                      <a:srgbClr val="FFFFFF"/>
                    </a:solidFill>
                  </a:tcPr>
                </a:tc>
              </a:tr>
              <a:tr h="347472">
                <a:tc>
                  <a:txBody>
                    <a:bodyPr wrap="square"/>
                    <a:lstStyle/>
                    <a:p>
                      <a:pPr algn="l"/>
                      <a:r>
                        <a:rPr sz="1100" b="0">
                          <a:solidFill>
                            <a:srgbClr val="555555"/>
                          </a:solidFill>
                          <a:latin typeface="맑은 고딕"/>
                          <a:ea typeface="맑은 고딕"/>
                        </a:rPr>
                        <a:t>3</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검출 주기 2프레임마다</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27.1 ms</a:t>
                      </a:r>
                    </a:p>
                  </a:txBody>
                  <a:tcPr marL="54864" marT="18288" marB="18288" anchor="ctr">
                    <a:solidFill>
                      <a:srgbClr val="FFFFFF"/>
                    </a:solidFill>
                  </a:tcPr>
                </a:tc>
              </a:tr>
              <a:tr h="347472">
                <a:tc>
                  <a:txBody>
                    <a:bodyPr wrap="square"/>
                    <a:lstStyle/>
                    <a:p>
                      <a:pPr algn="l"/>
                      <a:r>
                        <a:rPr sz="1100" b="1">
                          <a:solidFill>
                            <a:srgbClr val="C0392B"/>
                          </a:solidFill>
                          <a:latin typeface="맑은 고딕"/>
                          <a:ea typeface="맑은 고딕"/>
                        </a:rPr>
                        <a:t>4</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인터프리터 스레드 4개</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23.19 ms</a:t>
                      </a:r>
                    </a:p>
                  </a:txBody>
                  <a:tcPr marL="54864" marT="18288" marB="18288" anchor="ctr">
                    <a:solidFill>
                      <a:srgbClr val="EEF3F9"/>
                    </a:solidFill>
                  </a:tcPr>
                </a:tc>
              </a:tr>
            </a:tbl>
          </a:graphicData>
        </a:graphic>
      </p:graphicFrame>
      <p:sp>
        <p:nvSpPr>
          <p:cNvPr id="10" name="TextBox 9"/>
          <p:cNvSpPr txBox="1"/>
          <p:nvPr/>
        </p:nvSpPr>
        <p:spPr>
          <a:xfrm>
            <a:off x="457200" y="4343400"/>
            <a:ext cx="11247120" cy="219456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측정이 뒤집은 예측 — 추측으로는 알 수 없었던 것</a:t>
            </a:r>
          </a:p>
          <a:p>
            <a:pPr algn="l">
              <a:spcBef>
                <a:spcPts val="600"/>
              </a:spcBef>
            </a:pPr>
            <a:r>
              <a:rPr sz="1250" b="0">
                <a:latin typeface="맑은 고딕"/>
                <a:ea typeface="맑은 고딕"/>
              </a:rPr>
              <a:t>· cv2.imshow가 느릴 것으로 예상 → 실측 0.10 ms. 실제로는 waitKey가 11.98 ms였다. imshow는 비동기라 화면 전송이 waitKey 안에서 일어나기 때문.</a:t>
            </a:r>
          </a:p>
          <a:p>
            <a:pPr algn="l">
              <a:spcBef>
                <a:spcPts val="400"/>
              </a:spcBef>
            </a:pPr>
            <a:r>
              <a:rPr sz="1250" b="0">
                <a:latin typeface="맑은 고딕"/>
                <a:ea typeface="맑은 고딕"/>
              </a:rPr>
              <a:t>· 후처리 40줄이 무거울 것으로 예상 → 실측 0.36 ms. 추론이 전체의 84%를 차지.</a:t>
            </a:r>
          </a:p>
          <a:p>
            <a:pPr algn="l">
              <a:spcBef>
                <a:spcPts val="400"/>
              </a:spcBef>
            </a:pPr>
            <a:r>
              <a:rPr sz="1250" b="0">
                <a:latin typeface="맑은 고딕"/>
                <a:ea typeface="맑은 고딕"/>
              </a:rPr>
              <a:t>· 카메라 형식을 MJPG로 바꾸자 초당 처리 장수의 상한이 18.5장에서 해소되었다 (실측 68.1 FPS).</a:t>
            </a:r>
          </a:p>
          <a:p>
            <a:pPr algn="l">
              <a:spcBef>
                <a:spcPts val="600"/>
              </a:spcBef>
            </a:pPr>
            <a:r>
              <a:rPr sz="1250" b="1">
                <a:solidFill>
                  <a:srgbClr val="1E8A4C"/>
                </a:solidFill>
                <a:latin typeface="맑은 고딕"/>
                <a:ea typeface="맑은 고딕"/>
              </a:rPr>
              <a:t>→ 성능 개선은 추측이 아니라 측정에서 시작해야 한다는 것을 수치로 확인했다.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3. 핵심 기술</a:t>
            </a:r>
          </a:p>
          <a:p>
            <a:r>
              <a:rPr sz="1300" b="0">
                <a:solidFill>
                  <a:srgbClr val="C8D8EE"/>
                </a:solidFill>
                <a:latin typeface="맑은 고딕"/>
                <a:ea typeface="맑은 고딕"/>
              </a:rPr>
              <a:t>3-3. 데이터셋 구축 자동화와 전수 검증</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라벨 오류는 오류 메시지 없이 학습을 망친다. 그래서 "사람이 확인"이 아니라 "기계가 대조"하도록 만들었다</a:t>
            </a:r>
          </a:p>
        </p:txBody>
      </p:sp>
      <p:sp>
        <p:nvSpPr>
          <p:cNvPr id="4" name="TextBox 3"/>
          <p:cNvSpPr txBox="1"/>
          <p:nvPr/>
        </p:nvSpPr>
        <p:spPr>
          <a:xfrm>
            <a:off x="457200" y="1828800"/>
            <a:ext cx="5486400" cy="274320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문제 : 같은 이름의 데이터셋 zip이 두 개</a:t>
            </a:r>
          </a:p>
          <a:p>
            <a:pPr algn="l">
              <a:spcBef>
                <a:spcPts val="600"/>
              </a:spcBef>
            </a:pPr>
            <a:r>
              <a:rPr sz="1250" b="0">
                <a:latin typeface="맑은 고딕"/>
                <a:ea typeface="맑은 고딕"/>
              </a:rPr>
              <a:t>· A : 라벨이 txt — YOLO 정식 구조, 학습 가능</a:t>
            </a:r>
          </a:p>
          <a:p>
            <a:pPr algn="l">
              <a:spcBef>
                <a:spcPts val="400"/>
              </a:spcBef>
            </a:pPr>
            <a:r>
              <a:rPr sz="1250" b="0">
                <a:latin typeface="맑은 고딕"/>
                <a:ea typeface="맑은 고딕"/>
              </a:rPr>
              <a:t>· B : 라벨이 xml — LabelImg 원본, 학습 불가</a:t>
            </a:r>
          </a:p>
          <a:p>
            <a:pPr algn="l">
              <a:spcBef>
                <a:spcPts val="400"/>
              </a:spcBef>
            </a:pPr>
            <a:r>
              <a:rPr sz="1200" b="0">
                <a:latin typeface="맑은 고딕"/>
                <a:ea typeface="맑은 고딕"/>
              </a:rPr>
              <a:t>LabelImg의 기본 저장 형식이 xml이므로, 새로 라벨링하면 학습이 안 되는 쪽이 만들어진다. 게다가 Ultralytics는 라벨을 0개로 인식해도 오류 없이 학습을 진행한다.</a:t>
            </a:r>
          </a:p>
          <a:p>
            <a:pPr algn="l">
              <a:spcBef>
                <a:spcPts val="1200"/>
              </a:spcBef>
            </a:pPr>
            <a:r>
              <a:rPr sz="1400" b="1">
                <a:solidFill>
                  <a:srgbClr val="1F3B63"/>
                </a:solidFill>
                <a:latin typeface="맑은 고딕"/>
                <a:ea typeface="맑은 고딕"/>
              </a:rPr>
              <a:t>■ 해결 : make_dataset.py</a:t>
            </a:r>
          </a:p>
          <a:p>
            <a:pPr algn="l">
              <a:spcBef>
                <a:spcPts val="400"/>
              </a:spcBef>
            </a:pPr>
            <a:r>
              <a:rPr sz="1250" b="0">
                <a:latin typeface="맑은 고딕"/>
                <a:ea typeface="맑은 고딕"/>
              </a:rPr>
              <a:t>xml→txt 변환 · 팀원 라벨 병합 · train/test 분할 · data.yaml 생성 · 전수 검사 · zip 묶기를 한 번에 수행</a:t>
            </a:r>
          </a:p>
        </p:txBody>
      </p:sp>
      <p:sp>
        <p:nvSpPr>
          <p:cNvPr id="5" name="TextBox 4"/>
          <p:cNvSpPr txBox="1"/>
          <p:nvPr/>
        </p:nvSpPr>
        <p:spPr>
          <a:xfrm>
            <a:off x="6217920" y="1828800"/>
            <a:ext cx="5486400" cy="274320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변환기 검증 (직접 대조)</a:t>
            </a:r>
          </a:p>
        </p:txBody>
      </p:sp>
      <p:graphicFrame>
        <p:nvGraphicFramePr>
          <p:cNvPr id="6" name="Table 5"/>
          <p:cNvGraphicFramePr>
            <a:graphicFrameLocks noGrp="1"/>
          </p:cNvGraphicFramePr>
          <p:nvPr/>
        </p:nvGraphicFramePr>
        <p:xfrm>
          <a:off x="6217920" y="2240280"/>
          <a:ext cx="5486400" cy="1389888"/>
        </p:xfrm>
        <a:graphic>
          <a:graphicData uri="http://schemas.openxmlformats.org/drawingml/2006/table">
            <a:tbl>
              <a:tblPr firstRow="1" bandRow="1">
                <a:tableStyleId>{5C22544A-7EE6-4342-B048-85BDC9FD1C3A}</a:tableStyleId>
              </a:tblPr>
              <a:tblGrid>
                <a:gridCol w="3291840"/>
                <a:gridCol w="2194560"/>
              </a:tblGrid>
              <a:tr h="347472">
                <a:tc>
                  <a:txBody>
                    <a:bodyPr wrap="square"/>
                    <a:lstStyle/>
                    <a:p>
                      <a:pPr algn="l"/>
                      <a:r>
                        <a:rPr sz="1200" b="1">
                          <a:solidFill>
                            <a:srgbClr val="FFFFFF"/>
                          </a:solidFill>
                          <a:latin typeface="맑은 고딕"/>
                          <a:ea typeface="맑은 고딕"/>
                        </a:rPr>
                        <a:t>대조 항목</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결과</a:t>
                      </a:r>
                    </a:p>
                  </a:txBody>
                  <a:tcPr marL="54864" marT="18288" marB="18288" anchor="ctr">
                    <a:solidFill>
                      <a:srgbClr val="1F3B63"/>
                    </a:solidFill>
                  </a:tcPr>
                </a:tc>
              </a:tr>
              <a:tr h="347472">
                <a:tc>
                  <a:txBody>
                    <a:bodyPr wrap="square"/>
                    <a:lstStyle/>
                    <a:p>
                      <a:pPr algn="l"/>
                      <a:r>
                        <a:rPr sz="1150" b="0">
                          <a:solidFill>
                            <a:srgbClr val="555555"/>
                          </a:solidFill>
                          <a:latin typeface="맑은 고딕"/>
                          <a:ea typeface="맑은 고딕"/>
                        </a:rPr>
                        <a:t>대조한 박스 수</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132개</a:t>
                      </a:r>
                    </a:p>
                  </a:txBody>
                  <a:tcPr marL="54864" marT="18288" marB="18288" anchor="ctr">
                    <a:solidFill>
                      <a:srgbClr val="FFFFFF"/>
                    </a:solidFill>
                  </a:tcPr>
                </a:tc>
              </a:tr>
              <a:tr h="347472">
                <a:tc>
                  <a:txBody>
                    <a:bodyPr wrap="square"/>
                    <a:lstStyle/>
                    <a:p>
                      <a:pPr algn="l"/>
                      <a:r>
                        <a:rPr sz="1150" b="0">
                          <a:solidFill>
                            <a:srgbClr val="555555"/>
                          </a:solidFill>
                          <a:latin typeface="맑은 고딕"/>
                          <a:ea typeface="맑은 고딕"/>
                        </a:rPr>
                        <a:t>클래스 번호 불일치</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0개</a:t>
                      </a:r>
                    </a:p>
                  </a:txBody>
                  <a:tcPr marL="54864" marT="18288" marB="18288" anchor="ctr">
                    <a:solidFill>
                      <a:srgbClr val="FFFFFF"/>
                    </a:solidFill>
                  </a:tcPr>
                </a:tc>
              </a:tr>
              <a:tr h="347472">
                <a:tc>
                  <a:txBody>
                    <a:bodyPr wrap="square"/>
                    <a:lstStyle/>
                    <a:p>
                      <a:pPr algn="l"/>
                      <a:r>
                        <a:rPr sz="1150" b="1">
                          <a:solidFill>
                            <a:srgbClr val="C0392B"/>
                          </a:solidFill>
                          <a:latin typeface="맑은 고딕"/>
                          <a:ea typeface="맑은 고딕"/>
                        </a:rPr>
                        <a:t>좌표 최대 차이</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0.00064 픽셀</a:t>
                      </a:r>
                    </a:p>
                  </a:txBody>
                  <a:tcPr marL="54864" marT="18288" marB="18288" anchor="ctr">
                    <a:solidFill>
                      <a:srgbClr val="EEF3F9"/>
                    </a:solidFill>
                  </a:tcPr>
                </a:tc>
              </a:tr>
            </a:tbl>
          </a:graphicData>
        </a:graphic>
      </p:graphicFrame>
      <p:sp>
        <p:nvSpPr>
          <p:cNvPr id="7" name="TextBox 6"/>
          <p:cNvSpPr txBox="1"/>
          <p:nvPr/>
        </p:nvSpPr>
        <p:spPr>
          <a:xfrm>
            <a:off x="6217920" y="3703320"/>
            <a:ext cx="548640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내 변환기 출력과 교수님이 제공한 정답 txt를 1:1 대조.
차이는 전부 소수점 6자리 반올림 방식 차이였다.</a:t>
            </a:r>
          </a:p>
        </p:txBody>
      </p:sp>
      <p:sp>
        <p:nvSpPr>
          <p:cNvPr id="8" name="TextBox 7"/>
          <p:cNvSpPr txBox="1"/>
          <p:nvPr/>
        </p:nvSpPr>
        <p:spPr>
          <a:xfrm>
            <a:off x="6217920" y="4343400"/>
            <a:ext cx="5486400" cy="146304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check_labels.py — 라벨 전수 검사</a:t>
            </a:r>
          </a:p>
        </p:txBody>
      </p:sp>
      <p:sp>
        <p:nvSpPr>
          <p:cNvPr id="9" name="TextBox 8"/>
          <p:cNvSpPr txBox="1"/>
          <p:nvPr/>
        </p:nvSpPr>
        <p:spPr>
          <a:xfrm>
            <a:off x="457200" y="4892040"/>
            <a:ext cx="11247120" cy="1645920"/>
          </a:xfrm>
          <a:prstGeom prst="rect">
            <a:avLst/>
          </a:prstGeom>
          <a:noFill/>
        </p:spPr>
        <p:txBody>
          <a:bodyPr wrap="square">
            <a:spAutoFit/>
          </a:bodyPr>
          <a:lstStyle/>
          <a:p>
            <a:pPr algn="l">
              <a:spcBef>
                <a:spcPts val="400"/>
              </a:spcBef>
            </a:pPr>
            <a:r>
              <a:rPr sz="1250" b="0">
                <a:latin typeface="맑은 고딕"/>
                <a:ea typeface="맑은 고딕"/>
              </a:rPr>
              <a:t>검사 원리 : 나눠 받은 사진의 폴더 이름이 곧 정답이다 (예: paper_rock 폴더 → 보 1개 + 바위 1개). 따라서 txt에 적힌 클래스 번호가 폴더 이름과 맞는지 기계가 대조할 수 있다.</a:t>
            </a:r>
          </a:p>
          <a:p>
            <a:pPr algn="l">
              <a:spcBef>
                <a:spcPts val="600"/>
              </a:spcBef>
            </a:pPr>
            <a:r>
              <a:rPr sz="1250" b="0">
                <a:latin typeface="맑은 고딕"/>
                <a:ea typeface="맑은 고딕"/>
              </a:rPr>
              <a:t>잡아낸 실제 오류 : 클래스명 오타로 생긴 4번째 클래스, 파일명이 깨진 라벨 4건, 보 대신 가위로 잘못 친 라벨 2건, 사진이 없는 라벨</a:t>
            </a:r>
          </a:p>
          <a:p>
            <a:pPr algn="l">
              <a:spcBef>
                <a:spcPts val="600"/>
              </a:spcBef>
            </a:pPr>
            <a:r>
              <a:rPr sz="1250" b="1">
                <a:solidFill>
                  <a:srgbClr val="1E8A4C"/>
                </a:solidFill>
                <a:latin typeface="맑은 고딕"/>
                <a:ea typeface="맑은 고딕"/>
              </a:rPr>
              <a:t>→ 팀원 3명의 라벨 306개를 전수 대조하여 병합 전에 검증 (불일치 0건 확인 후 병합)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4. 결과 분석 및 기대 효과</a:t>
            </a:r>
          </a:p>
          <a:p>
            <a:r>
              <a:rPr sz="1300" b="0">
                <a:solidFill>
                  <a:srgbClr val="C8D8EE"/>
                </a:solidFill>
                <a:latin typeface="맑은 고딕"/>
                <a:ea typeface="맑은 고딕"/>
              </a:rPr>
              <a:t>4-1. 시험지를 두 개로 나누어 실제 성능을 드러냄</a:t>
            </a:r>
          </a:p>
        </p:txBody>
      </p:sp>
      <p:sp>
        <p:nvSpPr>
          <p:cNvPr id="3" name="Rectangle 2"/>
          <p:cNvSpPr/>
          <p:nvPr/>
        </p:nvSpPr>
        <p:spPr>
          <a:xfrm>
            <a:off x="457200" y="1115568"/>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교수님 시험지에서는 세 모델이 모두 mAP50 0.995로 동일. 새 시험지에서만 0.475 → 0.851 (+79%)의 차이가 드러남</a:t>
            </a:r>
          </a:p>
        </p:txBody>
      </p:sp>
      <p:graphicFrame>
        <p:nvGraphicFramePr>
          <p:cNvPr id="4" name="Table 3"/>
          <p:cNvGraphicFramePr>
            <a:graphicFrameLocks noGrp="1"/>
          </p:cNvGraphicFramePr>
          <p:nvPr/>
        </p:nvGraphicFramePr>
        <p:xfrm>
          <a:off x="457200" y="1874519"/>
          <a:ext cx="11247119" cy="1920240"/>
        </p:xfrm>
        <a:graphic>
          <a:graphicData uri="http://schemas.openxmlformats.org/drawingml/2006/table">
            <a:tbl>
              <a:tblPr firstRow="1" bandRow="1">
                <a:tableStyleId>{5C22544A-7EE6-4342-B048-85BDC9FD1C3A}</a:tableStyleId>
              </a:tblPr>
              <a:tblGrid>
                <a:gridCol w="1005840"/>
                <a:gridCol w="2194560"/>
                <a:gridCol w="1920240"/>
                <a:gridCol w="2011680"/>
                <a:gridCol w="2011680"/>
                <a:gridCol w="2103119"/>
              </a:tblGrid>
              <a:tr h="384048">
                <a:tc>
                  <a:txBody>
                    <a:bodyPr wrap="square"/>
                    <a:lstStyle/>
                    <a:p>
                      <a:pPr algn="l"/>
                      <a:r>
                        <a:rPr sz="1200" b="1">
                          <a:solidFill>
                            <a:srgbClr val="FFFFFF"/>
                          </a:solidFill>
                          <a:latin typeface="맑은 고딕"/>
                          <a:ea typeface="맑은 고딕"/>
                        </a:rPr>
                        <a:t>모델</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학습 장수</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쉬운 시험 mAP50</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쉬운 시험 mAP50-95</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어려운 시험 mAP50</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어려운 시험 mAP50-95</a:t>
                      </a:r>
                    </a:p>
                  </a:txBody>
                  <a:tcPr marL="54864" marT="18288" marB="18288" anchor="ctr">
                    <a:solidFill>
                      <a:srgbClr val="1F3B63"/>
                    </a:solidFill>
                  </a:tcPr>
                </a:tc>
              </a:tr>
              <a:tr h="384048">
                <a:tc>
                  <a:txBody>
                    <a:bodyPr wrap="square"/>
                    <a:lstStyle/>
                    <a:p>
                      <a:pPr algn="l"/>
                      <a:r>
                        <a:rPr sz="1150" b="0">
                          <a:solidFill>
                            <a:srgbClr val="555555"/>
                          </a:solidFill>
                          <a:latin typeface="맑은 고딕"/>
                          <a:ea typeface="맑은 고딕"/>
                        </a:rPr>
                        <a:t>v1</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82장 (교수님 원본)</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0.995</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0.862</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0.475</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0.184</a:t>
                      </a:r>
                    </a:p>
                  </a:txBody>
                  <a:tcPr marL="54864" marT="18288" marB="18288" anchor="ctr">
                    <a:solidFill>
                      <a:srgbClr val="FFFFFF"/>
                    </a:solidFill>
                  </a:tcPr>
                </a:tc>
              </a:tr>
              <a:tr h="384048">
                <a:tc>
                  <a:txBody>
                    <a:bodyPr wrap="square"/>
                    <a:lstStyle/>
                    <a:p>
                      <a:pPr algn="l"/>
                      <a:r>
                        <a:rPr sz="1150" b="0">
                          <a:solidFill>
                            <a:srgbClr val="555555"/>
                          </a:solidFill>
                          <a:latin typeface="맑은 고딕"/>
                          <a:ea typeface="맑은 고딕"/>
                        </a:rPr>
                        <a:t>v2</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327장 (+팀 245장)</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0.995</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0.849</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0.650</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0.383</a:t>
                      </a:r>
                    </a:p>
                  </a:txBody>
                  <a:tcPr marL="54864" marT="18288" marB="18288" anchor="ctr">
                    <a:solidFill>
                      <a:srgbClr val="FFFFFF"/>
                    </a:solidFill>
                  </a:tcPr>
                </a:tc>
              </a:tr>
              <a:tr h="384048">
                <a:tc>
                  <a:txBody>
                    <a:bodyPr wrap="square"/>
                    <a:lstStyle/>
                    <a:p>
                      <a:pPr algn="l"/>
                      <a:r>
                        <a:rPr sz="1150" b="1">
                          <a:solidFill>
                            <a:srgbClr val="C0392B"/>
                          </a:solidFill>
                          <a:latin typeface="맑은 고딕"/>
                          <a:ea typeface="맑은 고딕"/>
                        </a:rPr>
                        <a:t>v3</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724장 (+497장)</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0.995</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0.827</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0.851</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0.472</a:t>
                      </a:r>
                    </a:p>
                  </a:txBody>
                  <a:tcPr marL="54864" marT="18288" marB="18288" anchor="ctr">
                    <a:solidFill>
                      <a:srgbClr val="EEF3F9"/>
                    </a:solidFill>
                  </a:tcPr>
                </a:tc>
              </a:tr>
              <a:tr h="384048">
                <a:tc>
                  <a:txBody>
                    <a:bodyPr wrap="square"/>
                    <a:lstStyle/>
                    <a:p>
                      <a:pPr algn="l"/>
                      <a:r>
                        <a:rPr sz="1150" b="1">
                          <a:solidFill>
                            <a:srgbClr val="C0392B"/>
                          </a:solidFill>
                          <a:latin typeface="맑은 고딕"/>
                          <a:ea typeface="맑은 고딕"/>
                        </a:rPr>
                        <a:t>v1 → v3</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8.8배</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 0</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−0.035</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+0.376 (+79%)</a:t>
                      </a:r>
                    </a:p>
                  </a:txBody>
                  <a:tcPr marL="54864" marT="18288" marB="18288" anchor="ctr">
                    <a:solidFill>
                      <a:srgbClr val="EEF3F9"/>
                    </a:solidFill>
                  </a:tcPr>
                </a:tc>
                <a:tc>
                  <a:txBody>
                    <a:bodyPr wrap="square"/>
                    <a:lstStyle/>
                    <a:p>
                      <a:pPr algn="ctr"/>
                      <a:r>
                        <a:rPr sz="1150" b="1">
                          <a:solidFill>
                            <a:srgbClr val="C0392B"/>
                          </a:solidFill>
                          <a:latin typeface="맑은 고딕"/>
                          <a:ea typeface="맑은 고딕"/>
                        </a:rPr>
                        <a:t>+0.288 (2.6배)</a:t>
                      </a:r>
                    </a:p>
                  </a:txBody>
                  <a:tcPr marL="54864" marT="18288" marB="18288" anchor="ctr">
                    <a:solidFill>
                      <a:srgbClr val="EEF3F9"/>
                    </a:solidFill>
                  </a:tcPr>
                </a:tc>
              </a:tr>
            </a:tbl>
          </a:graphicData>
        </a:graphic>
      </p:graphicFrame>
      <p:sp>
        <p:nvSpPr>
          <p:cNvPr id="5" name="TextBox 4"/>
          <p:cNvSpPr txBox="1"/>
          <p:nvPr/>
        </p:nvSpPr>
        <p:spPr>
          <a:xfrm>
            <a:off x="457200" y="3931920"/>
            <a:ext cx="1124712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 쉬운 시험 = 교수님 원본 test 22장(박스 32개). 세 판 모두 학습에 한 장도 넣지 않고 그대로 보존해 비교 가능하게 했다.
· 어려운 시험 = 직접 구성한 160장(박스 218개). 전부 손이 2개이고 출처·조명이 다양하다.</a:t>
            </a:r>
          </a:p>
        </p:txBody>
      </p:sp>
      <p:sp>
        <p:nvSpPr>
          <p:cNvPr id="6" name="TextBox 5"/>
          <p:cNvSpPr txBox="1"/>
          <p:nvPr/>
        </p:nvSpPr>
        <p:spPr>
          <a:xfrm>
            <a:off x="457200" y="4572000"/>
            <a:ext cx="11247120" cy="192024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이 표에서 읽어야 할 것</a:t>
            </a:r>
          </a:p>
          <a:p>
            <a:pPr algn="l">
              <a:spcBef>
                <a:spcPts val="600"/>
              </a:spcBef>
            </a:pPr>
            <a:r>
              <a:rPr sz="1250" b="0">
                <a:latin typeface="맑은 고딕"/>
                <a:ea typeface="맑은 고딕"/>
              </a:rPr>
              <a:t>결론 : 교수님 데이터만으로 학습한 v1은 실사용 조건에서 절반도 맞히지 못하고 있었으나(0.475), 교수님 시험지로는 0.995였기 때문에 그 사실을 알 수 없었다.</a:t>
            </a:r>
          </a:p>
          <a:p>
            <a:pPr algn="l">
              <a:spcBef>
                <a:spcPts val="600"/>
              </a:spcBef>
            </a:pPr>
            <a:r>
              <a:rPr sz="1200" b="0">
                <a:latin typeface="맑은 고딕"/>
                <a:ea typeface="맑은 고딕"/>
              </a:rPr>
              <a:t>고찰 ① : mAP50(+79%)에 비해 mAP50-95(+0.288)의 상대 개선폭이 작다. 손을 찾아내는 능력은 크게 늘었으나 박스 위치의 정밀도는 덜 늘었다는 뜻이다. 게임은 좌/우 구분과 클래스만 맞으면 판정되므로 실사용에는 영향이 없다.</a:t>
            </a:r>
          </a:p>
          <a:p>
            <a:pPr algn="l">
              <a:spcBef>
                <a:spcPts val="400"/>
              </a:spcBef>
            </a:pPr>
            <a:r>
              <a:rPr sz="1200" b="0">
                <a:latin typeface="맑은 고딕"/>
                <a:ea typeface="맑은 고딕"/>
              </a:rPr>
              <a:t>고찰 ② : 쉬운 시험의 mAP50-95가 0.862 → 0.827로 낮아졌으나, 학습 중 epoch 간 변동폭이 0.08에 달해 이 차이는 통계적 잡음과 구분되지 않는다. 표본이 32박스뿐이기 때문이며, 218박스로 측정한 어려운 시험의 +0.288이 신뢰할 수 있는 값이다.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4. 결과 분석 및 기대 효과</a:t>
            </a:r>
          </a:p>
          <a:p>
            <a:r>
              <a:rPr sz="1300" b="0">
                <a:solidFill>
                  <a:srgbClr val="C8D8EE"/>
                </a:solidFill>
                <a:latin typeface="맑은 고딕"/>
                <a:ea typeface="맑은 고딕"/>
              </a:rPr>
              <a:t>4-2. 성능이 낮았던 원인 분석 — "바위를 못 잡는다"의 진짜 이유</a:t>
            </a:r>
          </a:p>
        </p:txBody>
      </p:sp>
      <p:sp>
        <p:nvSpPr>
          <p:cNvPr id="3" name="Rectangle 2"/>
          <p:cNvSpPr/>
          <p:nvPr/>
        </p:nvSpPr>
        <p:spPr>
          <a:xfrm>
            <a:off x="457200" y="1115568"/>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부족했던 것은 데이터의 "개수"가 아니라 "크기의 다양성"이었다</a:t>
            </a:r>
          </a:p>
        </p:txBody>
      </p:sp>
      <p:sp>
        <p:nvSpPr>
          <p:cNvPr id="4" name="TextBox 3"/>
          <p:cNvSpPr txBox="1"/>
          <p:nvPr/>
        </p:nvSpPr>
        <p:spPr>
          <a:xfrm>
            <a:off x="457200" y="1810512"/>
            <a:ext cx="5577840" cy="365760"/>
          </a:xfrm>
          <a:prstGeom prst="rect">
            <a:avLst/>
          </a:prstGeom>
          <a:noFill/>
        </p:spPr>
        <p:txBody>
          <a:bodyPr wrap="square">
            <a:spAutoFit/>
          </a:bodyPr>
          <a:lstStyle/>
          <a:p>
            <a:pPr algn="l">
              <a:spcBef>
                <a:spcPts val="400"/>
              </a:spcBef>
            </a:pPr>
            <a:r>
              <a:rPr sz="1350" b="1">
                <a:solidFill>
                  <a:srgbClr val="1F3B63"/>
                </a:solidFill>
                <a:latin typeface="맑은 고딕"/>
                <a:ea typeface="맑은 고딕"/>
              </a:rPr>
              <a:t>① 현상 — 보드 실측 (9가지 조합 각 1회)</a:t>
            </a:r>
          </a:p>
        </p:txBody>
      </p:sp>
      <p:graphicFrame>
        <p:nvGraphicFramePr>
          <p:cNvPr id="5" name="Table 4"/>
          <p:cNvGraphicFramePr>
            <a:graphicFrameLocks noGrp="1"/>
          </p:cNvGraphicFramePr>
          <p:nvPr/>
        </p:nvGraphicFramePr>
        <p:xfrm>
          <a:off x="457200" y="2194560"/>
          <a:ext cx="5577835" cy="1316736"/>
        </p:xfrm>
        <a:graphic>
          <a:graphicData uri="http://schemas.openxmlformats.org/drawingml/2006/table">
            <a:tbl>
              <a:tblPr firstRow="1" bandRow="1">
                <a:tableStyleId>{5C22544A-7EE6-4342-B048-85BDC9FD1C3A}</a:tableStyleId>
              </a:tblPr>
              <a:tblGrid>
                <a:gridCol w="1188719"/>
                <a:gridCol w="1005839"/>
                <a:gridCol w="1097279"/>
                <a:gridCol w="1005839"/>
                <a:gridCol w="1280159"/>
              </a:tblGrid>
              <a:tr h="329184">
                <a:tc>
                  <a:txBody>
                    <a:bodyPr wrap="square"/>
                    <a:lstStyle/>
                    <a:p>
                      <a:pPr algn="l"/>
                      <a:r>
                        <a:rPr sz="1200" b="1">
                          <a:solidFill>
                            <a:srgbClr val="FFFFFF"/>
                          </a:solidFill>
                          <a:latin typeface="맑은 고딕"/>
                          <a:ea typeface="맑은 고딕"/>
                        </a:rPr>
                        <a:t>모델</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P1 승</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무승부</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P2 승</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판정 정확도</a:t>
                      </a:r>
                    </a:p>
                  </a:txBody>
                  <a:tcPr marL="54864" marT="18288" marB="18288" anchor="ctr">
                    <a:solidFill>
                      <a:srgbClr val="1F3B63"/>
                    </a:solidFill>
                  </a:tcPr>
                </a:tc>
              </a:tr>
              <a:tr h="329184">
                <a:tc>
                  <a:txBody>
                    <a:bodyPr wrap="square"/>
                    <a:lstStyle/>
                    <a:p>
                      <a:pPr algn="l"/>
                      <a:r>
                        <a:rPr sz="1100" b="0">
                          <a:solidFill>
                            <a:srgbClr val="555555"/>
                          </a:solidFill>
                          <a:latin typeface="맑은 고딕"/>
                          <a:ea typeface="맑은 고딕"/>
                        </a:rPr>
                        <a:t>정답</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a:t>
                      </a:r>
                    </a:p>
                  </a:txBody>
                  <a:tcPr marL="54864" marT="18288" marB="18288" anchor="ctr">
                    <a:solidFill>
                      <a:srgbClr val="FFFFFF"/>
                    </a:solidFill>
                  </a:tcPr>
                </a:tc>
              </a:tr>
              <a:tr h="329184">
                <a:tc>
                  <a:txBody>
                    <a:bodyPr wrap="square"/>
                    <a:lstStyle/>
                    <a:p>
                      <a:pPr algn="l"/>
                      <a:r>
                        <a:rPr sz="1100" b="0">
                          <a:solidFill>
                            <a:srgbClr val="555555"/>
                          </a:solidFill>
                          <a:latin typeface="맑은 고딕"/>
                          <a:ea typeface="맑은 고딕"/>
                        </a:rPr>
                        <a:t>v1</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2</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6</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1</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 / 9</a:t>
                      </a:r>
                    </a:p>
                  </a:txBody>
                  <a:tcPr marL="54864" marT="18288" marB="18288" anchor="ctr">
                    <a:solidFill>
                      <a:srgbClr val="FFFFFF"/>
                    </a:solidFill>
                  </a:tcPr>
                </a:tc>
              </a:tr>
              <a:tr h="329184">
                <a:tc>
                  <a:txBody>
                    <a:bodyPr wrap="square"/>
                    <a:lstStyle/>
                    <a:p>
                      <a:pPr algn="l"/>
                      <a:r>
                        <a:rPr sz="1100" b="1">
                          <a:solidFill>
                            <a:srgbClr val="C0392B"/>
                          </a:solidFill>
                          <a:latin typeface="맑은 고딕"/>
                          <a:ea typeface="맑은 고딕"/>
                        </a:rPr>
                        <a:t>v3</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3</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3</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3</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9 / 9</a:t>
                      </a:r>
                    </a:p>
                  </a:txBody>
                  <a:tcPr marL="54864" marT="18288" marB="18288" anchor="ctr">
                    <a:solidFill>
                      <a:srgbClr val="EEF3F9"/>
                    </a:solidFill>
                  </a:tcPr>
                </a:tc>
              </a:tr>
            </a:tbl>
          </a:graphicData>
        </a:graphic>
      </p:graphicFrame>
      <p:sp>
        <p:nvSpPr>
          <p:cNvPr id="6" name="TextBox 5"/>
          <p:cNvSpPr txBox="1"/>
          <p:nvPr/>
        </p:nvSpPr>
        <p:spPr>
          <a:xfrm>
            <a:off x="457200" y="3566160"/>
            <a:ext cx="557784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v1은 바위를 다른 모양으로 잘못 읽어 "거짓 무승부"가 6회 발생했다.</a:t>
            </a:r>
          </a:p>
        </p:txBody>
      </p:sp>
      <p:sp>
        <p:nvSpPr>
          <p:cNvPr id="7" name="TextBox 6"/>
          <p:cNvSpPr txBox="1"/>
          <p:nvPr/>
        </p:nvSpPr>
        <p:spPr>
          <a:xfrm>
            <a:off x="6172200" y="1810512"/>
            <a:ext cx="5577840" cy="365760"/>
          </a:xfrm>
          <a:prstGeom prst="rect">
            <a:avLst/>
          </a:prstGeom>
          <a:noFill/>
        </p:spPr>
        <p:txBody>
          <a:bodyPr wrap="square">
            <a:spAutoFit/>
          </a:bodyPr>
          <a:lstStyle/>
          <a:p>
            <a:pPr algn="l">
              <a:spcBef>
                <a:spcPts val="400"/>
              </a:spcBef>
            </a:pPr>
            <a:r>
              <a:rPr sz="1350" b="1">
                <a:solidFill>
                  <a:srgbClr val="1F3B63"/>
                </a:solidFill>
                <a:latin typeface="맑은 고딕"/>
                <a:ea typeface="맑은 고딕"/>
              </a:rPr>
              <a:t>② 원인 — 학습 데이터의 바위 박스 크기</a:t>
            </a:r>
          </a:p>
        </p:txBody>
      </p:sp>
      <p:graphicFrame>
        <p:nvGraphicFramePr>
          <p:cNvPr id="8" name="Table 7"/>
          <p:cNvGraphicFramePr>
            <a:graphicFrameLocks noGrp="1"/>
          </p:cNvGraphicFramePr>
          <p:nvPr/>
        </p:nvGraphicFramePr>
        <p:xfrm>
          <a:off x="6172200" y="2194560"/>
          <a:ext cx="5577840" cy="987552"/>
        </p:xfrm>
        <a:graphic>
          <a:graphicData uri="http://schemas.openxmlformats.org/drawingml/2006/table">
            <a:tbl>
              <a:tblPr firstRow="1" bandRow="1">
                <a:tableStyleId>{5C22544A-7EE6-4342-B048-85BDC9FD1C3A}</a:tableStyleId>
              </a:tblPr>
              <a:tblGrid>
                <a:gridCol w="1645920"/>
                <a:gridCol w="1280160"/>
                <a:gridCol w="1280160"/>
                <a:gridCol w="1371600"/>
              </a:tblGrid>
              <a:tr h="329184">
                <a:tc>
                  <a:txBody>
                    <a:bodyPr wrap="square"/>
                    <a:lstStyle/>
                    <a:p>
                      <a:pPr algn="l"/>
                      <a:r>
                        <a:rPr sz="1200" b="1">
                          <a:solidFill>
                            <a:srgbClr val="FFFFFF"/>
                          </a:solidFill>
                          <a:latin typeface="맑은 고딕"/>
                          <a:ea typeface="맑은 고딕"/>
                        </a:rPr>
                        <a:t>학습 데이터</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바위 개수</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면적 평균</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면적 최대</a:t>
                      </a:r>
                    </a:p>
                  </a:txBody>
                  <a:tcPr marL="54864" marT="18288" marB="18288" anchor="ctr">
                    <a:solidFill>
                      <a:srgbClr val="1F3B63"/>
                    </a:solidFill>
                  </a:tcPr>
                </a:tc>
              </a:tr>
              <a:tr h="329184">
                <a:tc>
                  <a:txBody>
                    <a:bodyPr wrap="square"/>
                    <a:lstStyle/>
                    <a:p>
                      <a:pPr algn="l"/>
                      <a:r>
                        <a:rPr sz="1100" b="0">
                          <a:solidFill>
                            <a:srgbClr val="555555"/>
                          </a:solidFill>
                          <a:latin typeface="맑은 고딕"/>
                          <a:ea typeface="맑은 고딕"/>
                        </a:rPr>
                        <a:t>v1 (82장)</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33개</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9.9%</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15.5%</a:t>
                      </a:r>
                    </a:p>
                  </a:txBody>
                  <a:tcPr marL="54864" marT="18288" marB="18288" anchor="ctr">
                    <a:solidFill>
                      <a:srgbClr val="FFFFFF"/>
                    </a:solidFill>
                  </a:tcPr>
                </a:tc>
              </a:tr>
              <a:tr h="329184">
                <a:tc>
                  <a:txBody>
                    <a:bodyPr wrap="square"/>
                    <a:lstStyle/>
                    <a:p>
                      <a:pPr algn="l"/>
                      <a:r>
                        <a:rPr sz="1100" b="1">
                          <a:solidFill>
                            <a:srgbClr val="C0392B"/>
                          </a:solidFill>
                          <a:latin typeface="맑은 고딕"/>
                          <a:ea typeface="맑은 고딕"/>
                        </a:rPr>
                        <a:t>v3 (724장)</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294개</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12.1%</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40.4%</a:t>
                      </a:r>
                    </a:p>
                  </a:txBody>
                  <a:tcPr marL="54864" marT="18288" marB="18288" anchor="ctr">
                    <a:solidFill>
                      <a:srgbClr val="EEF3F9"/>
                    </a:solidFill>
                  </a:tcPr>
                </a:tc>
              </a:tr>
            </a:tbl>
          </a:graphicData>
        </a:graphic>
      </p:graphicFrame>
      <p:sp>
        <p:nvSpPr>
          <p:cNvPr id="9" name="TextBox 8"/>
          <p:cNvSpPr txBox="1"/>
          <p:nvPr/>
        </p:nvSpPr>
        <p:spPr>
          <a:xfrm>
            <a:off x="6172200" y="3337560"/>
            <a:ext cx="557784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v1의 학습 데이터에는 화면의 15.5%를 넘는 바위가 한 장도 없었다.
게임에서 손을 카메라 가까이 내밀면 20~40%가 되므로, v1에게는 처음 보는 크기였다.
클래스별 개수는 34/33/33으로 균형이 맞았다 — 개수의 문제가 아니었다.</a:t>
            </a:r>
          </a:p>
        </p:txBody>
      </p:sp>
      <p:sp>
        <p:nvSpPr>
          <p:cNvPr id="10" name="TextBox 9"/>
          <p:cNvSpPr txBox="1"/>
          <p:nvPr/>
        </p:nvSpPr>
        <p:spPr>
          <a:xfrm>
            <a:off x="457200" y="4160520"/>
            <a:ext cx="11247120" cy="1188720"/>
          </a:xfrm>
          <a:prstGeom prst="rect">
            <a:avLst/>
          </a:prstGeom>
          <a:noFill/>
        </p:spPr>
        <p:txBody>
          <a:bodyPr wrap="square">
            <a:spAutoFit/>
          </a:bodyPr>
          <a:lstStyle/>
          <a:p>
            <a:pPr algn="l">
              <a:spcBef>
                <a:spcPts val="400"/>
              </a:spcBef>
            </a:pPr>
            <a:r>
              <a:rPr sz="1350" b="1">
                <a:solidFill>
                  <a:srgbClr val="1F3B63"/>
                </a:solidFill>
                <a:latin typeface="맑은 고딕"/>
                <a:ea typeface="맑은 고딕"/>
              </a:rPr>
              <a:t>③ 검증 — 평가 지표가 같은 이야기를 한다</a:t>
            </a:r>
          </a:p>
        </p:txBody>
      </p:sp>
      <p:graphicFrame>
        <p:nvGraphicFramePr>
          <p:cNvPr id="11" name="Table 10"/>
          <p:cNvGraphicFramePr>
            <a:graphicFrameLocks noGrp="1"/>
          </p:cNvGraphicFramePr>
          <p:nvPr/>
        </p:nvGraphicFramePr>
        <p:xfrm>
          <a:off x="457200" y="4572000"/>
          <a:ext cx="11247120" cy="1152144"/>
        </p:xfrm>
        <a:graphic>
          <a:graphicData uri="http://schemas.openxmlformats.org/drawingml/2006/table">
            <a:tbl>
              <a:tblPr firstRow="1" bandRow="1">
                <a:tableStyleId>{5C22544A-7EE6-4342-B048-85BDC9FD1C3A}</a:tableStyleId>
              </a:tblPr>
              <a:tblGrid>
                <a:gridCol w="914400"/>
                <a:gridCol w="1554480"/>
                <a:gridCol w="1463040"/>
                <a:gridCol w="1463040"/>
                <a:gridCol w="5852160"/>
              </a:tblGrid>
              <a:tr h="384048">
                <a:tc>
                  <a:txBody>
                    <a:bodyPr wrap="square"/>
                    <a:lstStyle/>
                    <a:p>
                      <a:pPr algn="l"/>
                      <a:r>
                        <a:rPr sz="1200" b="1">
                          <a:solidFill>
                            <a:srgbClr val="FFFFFF"/>
                          </a:solidFill>
                          <a:latin typeface="맑은 고딕"/>
                          <a:ea typeface="맑은 고딕"/>
                        </a:rPr>
                        <a:t>모델</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바위 Precision</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바위 Recall</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바위 mAP50</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해석</a:t>
                      </a:r>
                    </a:p>
                  </a:txBody>
                  <a:tcPr marL="54864" marT="18288" marB="18288" anchor="ctr">
                    <a:solidFill>
                      <a:srgbClr val="1F3B63"/>
                    </a:solidFill>
                  </a:tcPr>
                </a:tc>
              </a:tr>
              <a:tr h="384048">
                <a:tc>
                  <a:txBody>
                    <a:bodyPr wrap="square"/>
                    <a:lstStyle/>
                    <a:p>
                      <a:pPr algn="l"/>
                      <a:r>
                        <a:rPr sz="1100" b="0">
                          <a:solidFill>
                            <a:srgbClr val="555555"/>
                          </a:solidFill>
                          <a:latin typeface="맑은 고딕"/>
                          <a:ea typeface="맑은 고딕"/>
                        </a:rPr>
                        <a:t>v1</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0.918</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0.352</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0.514</a:t>
                      </a:r>
                    </a:p>
                  </a:txBody>
                  <a:tcPr marL="54864" marT="18288" marB="18288" anchor="ctr">
                    <a:solidFill>
                      <a:srgbClr val="FFFFFF"/>
                    </a:solidFill>
                  </a:tcPr>
                </a:tc>
                <a:tc>
                  <a:txBody>
                    <a:bodyPr wrap="square"/>
                    <a:lstStyle/>
                    <a:p>
                      <a:pPr algn="ctr"/>
                      <a:r>
                        <a:rPr sz="1100" b="0">
                          <a:solidFill>
                            <a:srgbClr val="555555"/>
                          </a:solidFill>
                          <a:latin typeface="맑은 고딕"/>
                          <a:ea typeface="맑은 고딕"/>
                        </a:rPr>
                        <a:t>"바위다"라고 말할 땐 거의 맞지만, 바위를 보고도 지나치는 일이 많다</a:t>
                      </a:r>
                    </a:p>
                  </a:txBody>
                  <a:tcPr marL="54864" marT="18288" marB="18288" anchor="ctr">
                    <a:solidFill>
                      <a:srgbClr val="FFFFFF"/>
                    </a:solidFill>
                  </a:tcPr>
                </a:tc>
              </a:tr>
              <a:tr h="384048">
                <a:tc>
                  <a:txBody>
                    <a:bodyPr wrap="square"/>
                    <a:lstStyle/>
                    <a:p>
                      <a:pPr algn="l"/>
                      <a:r>
                        <a:rPr sz="1100" b="1">
                          <a:solidFill>
                            <a:srgbClr val="C0392B"/>
                          </a:solidFill>
                          <a:latin typeface="맑은 고딕"/>
                          <a:ea typeface="맑은 고딕"/>
                        </a:rPr>
                        <a:t>v3</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0.930</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0.775</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0.908</a:t>
                      </a:r>
                    </a:p>
                  </a:txBody>
                  <a:tcPr marL="54864" marT="18288" marB="18288" anchor="ctr">
                    <a:solidFill>
                      <a:srgbClr val="EEF3F9"/>
                    </a:solidFill>
                  </a:tcPr>
                </a:tc>
                <a:tc>
                  <a:txBody>
                    <a:bodyPr wrap="square"/>
                    <a:lstStyle/>
                    <a:p>
                      <a:pPr algn="ctr"/>
                      <a:r>
                        <a:rPr sz="1100" b="1">
                          <a:solidFill>
                            <a:srgbClr val="C0392B"/>
                          </a:solidFill>
                          <a:latin typeface="맑은 고딕"/>
                          <a:ea typeface="맑은 고딕"/>
                        </a:rPr>
                        <a:t>놓치는 비율이 절반 이하로 감소</a:t>
                      </a:r>
                    </a:p>
                  </a:txBody>
                  <a:tcPr marL="54864" marT="18288" marB="18288" anchor="ctr">
                    <a:solidFill>
                      <a:srgbClr val="EEF3F9"/>
                    </a:solidFill>
                  </a:tcPr>
                </a:tc>
              </a:tr>
            </a:tbl>
          </a:graphicData>
        </a:graphic>
      </p:graphicFrame>
      <p:sp>
        <p:nvSpPr>
          <p:cNvPr id="12" name="TextBox 11"/>
          <p:cNvSpPr txBox="1"/>
          <p:nvPr/>
        </p:nvSpPr>
        <p:spPr>
          <a:xfrm>
            <a:off x="457200" y="5806440"/>
            <a:ext cx="1124712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④ 적용 결과 : 바위 Recall 0.352 → 0.775 (2.2배), 보드 판정 정확도 3/9 → 9/9. 세 모양 중 주먹이 면적이 가장 작아(평균 9.9%, 가위 14.2%·보 18.5%) 검출이 가장 어려웠고, 학습 데이터의 크기 범위마저 가장 좁았던 것이 원인이었다.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4. 결과 분석 및 기대 효과</a:t>
            </a:r>
          </a:p>
          <a:p>
            <a:r>
              <a:rPr sz="1300" b="0">
                <a:solidFill>
                  <a:srgbClr val="C8D8EE"/>
                </a:solidFill>
                <a:latin typeface="맑은 고딕"/>
                <a:ea typeface="맑은 고딕"/>
              </a:rPr>
              <a:t>4-3. 보드 실측 화면과 기대 효과</a:t>
            </a:r>
          </a:p>
        </p:txBody>
      </p:sp>
      <p:pic>
        <p:nvPicPr>
          <p:cNvPr id="3" name="Picture 2" descr="스크린샷 2026-09-17 173714.png"/>
          <p:cNvPicPr>
            <a:picLocks noChangeAspect="1"/>
          </p:cNvPicPr>
          <p:nvPr/>
        </p:nvPicPr>
        <p:blipFill>
          <a:blip r:embed="rId2"/>
          <a:stretch>
            <a:fillRect/>
          </a:stretch>
        </p:blipFill>
        <p:spPr>
          <a:xfrm>
            <a:off x="457200" y="1234440"/>
            <a:ext cx="5486400" cy="1601821"/>
          </a:xfrm>
          <a:prstGeom prst="rect">
            <a:avLst/>
          </a:prstGeom>
        </p:spPr>
      </p:pic>
      <p:sp>
        <p:nvSpPr>
          <p:cNvPr id="4" name="TextBox 3"/>
          <p:cNvSpPr txBox="1"/>
          <p:nvPr/>
        </p:nvSpPr>
        <p:spPr>
          <a:xfrm>
            <a:off x="457200" y="1965960"/>
            <a:ext cx="5486400" cy="274320"/>
          </a:xfrm>
          <a:prstGeom prst="rect">
            <a:avLst/>
          </a:prstGeom>
          <a:noFill/>
        </p:spPr>
        <p:txBody>
          <a:bodyPr wrap="square">
            <a:spAutoFit/>
          </a:bodyPr>
          <a:lstStyle/>
          <a:p>
            <a:pPr algn="ctr">
              <a:spcBef>
                <a:spcPts val="400"/>
              </a:spcBef>
            </a:pPr>
            <a:r>
              <a:rPr sz="1000" b="1">
                <a:solidFill>
                  <a:srgbClr val="2E6DB4"/>
                </a:solidFill>
                <a:latin typeface="맑은 고딕"/>
                <a:ea typeface="맑은 고딕"/>
              </a:rPr>
              <a:t>▲ 그림 2. v1 (82장 학습) — P1 2 / 무승부 6 / P2 1 → 3판만 정답</a:t>
            </a:r>
          </a:p>
        </p:txBody>
      </p:sp>
      <p:pic>
        <p:nvPicPr>
          <p:cNvPr id="5" name="Picture 4" descr="스크린샷 2026-09-17 173724.png"/>
          <p:cNvPicPr>
            <a:picLocks noChangeAspect="1"/>
          </p:cNvPicPr>
          <p:nvPr/>
        </p:nvPicPr>
        <p:blipFill>
          <a:blip r:embed="rId3"/>
          <a:stretch>
            <a:fillRect/>
          </a:stretch>
        </p:blipFill>
        <p:spPr>
          <a:xfrm>
            <a:off x="6217920" y="1234440"/>
            <a:ext cx="5486400" cy="1622407"/>
          </a:xfrm>
          <a:prstGeom prst="rect">
            <a:avLst/>
          </a:prstGeom>
        </p:spPr>
      </p:pic>
      <p:sp>
        <p:nvSpPr>
          <p:cNvPr id="6" name="TextBox 5"/>
          <p:cNvSpPr txBox="1"/>
          <p:nvPr/>
        </p:nvSpPr>
        <p:spPr>
          <a:xfrm>
            <a:off x="6217920" y="1965960"/>
            <a:ext cx="5486400" cy="274320"/>
          </a:xfrm>
          <a:prstGeom prst="rect">
            <a:avLst/>
          </a:prstGeom>
          <a:noFill/>
        </p:spPr>
        <p:txBody>
          <a:bodyPr wrap="square">
            <a:spAutoFit/>
          </a:bodyPr>
          <a:lstStyle/>
          <a:p>
            <a:pPr algn="ctr">
              <a:spcBef>
                <a:spcPts val="400"/>
              </a:spcBef>
            </a:pPr>
            <a:r>
              <a:rPr sz="1000" b="1">
                <a:solidFill>
                  <a:srgbClr val="2E6DB4"/>
                </a:solidFill>
                <a:latin typeface="맑은 고딕"/>
                <a:ea typeface="맑은 고딕"/>
              </a:rPr>
              <a:t>▲ 그림 3. v3 (724장 학습) — P1 3 / 무승부 3 / P2 3 → 9판 전부 정답</a:t>
            </a:r>
          </a:p>
        </p:txBody>
      </p:sp>
      <p:sp>
        <p:nvSpPr>
          <p:cNvPr id="7" name="TextBox 6"/>
          <p:cNvSpPr txBox="1"/>
          <p:nvPr/>
        </p:nvSpPr>
        <p:spPr>
          <a:xfrm>
            <a:off x="457200" y="2377440"/>
            <a:ext cx="11247120" cy="91440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목표 달성 여부</a:t>
            </a:r>
          </a:p>
        </p:txBody>
      </p:sp>
      <p:graphicFrame>
        <p:nvGraphicFramePr>
          <p:cNvPr id="8" name="Table 7"/>
          <p:cNvGraphicFramePr>
            <a:graphicFrameLocks noGrp="1"/>
          </p:cNvGraphicFramePr>
          <p:nvPr/>
        </p:nvGraphicFramePr>
        <p:xfrm>
          <a:off x="457200" y="2788920"/>
          <a:ext cx="11247118" cy="1737360"/>
        </p:xfrm>
        <a:graphic>
          <a:graphicData uri="http://schemas.openxmlformats.org/drawingml/2006/table">
            <a:tbl>
              <a:tblPr firstRow="1" bandRow="1">
                <a:tableStyleId>{5C22544A-7EE6-4342-B048-85BDC9FD1C3A}</a:tableStyleId>
              </a:tblPr>
              <a:tblGrid>
                <a:gridCol w="2985961"/>
                <a:gridCol w="2587832"/>
                <a:gridCol w="4678005"/>
                <a:gridCol w="995320"/>
              </a:tblGrid>
              <a:tr h="347472">
                <a:tc>
                  <a:txBody>
                    <a:bodyPr wrap="square"/>
                    <a:lstStyle/>
                    <a:p>
                      <a:pPr algn="l"/>
                      <a:r>
                        <a:rPr sz="1200" b="1">
                          <a:solidFill>
                            <a:srgbClr val="FFFFFF"/>
                          </a:solidFill>
                          <a:latin typeface="맑은 고딕"/>
                          <a:ea typeface="맑은 고딕"/>
                        </a:rPr>
                        <a:t>항목</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목표</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결과</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달성</a:t>
                      </a:r>
                    </a:p>
                  </a:txBody>
                  <a:tcPr marL="54864" marT="18288" marB="18288" anchor="ctr">
                    <a:solidFill>
                      <a:srgbClr val="1F3B63"/>
                    </a:solidFill>
                  </a:tcPr>
                </a:tc>
              </a:tr>
              <a:tr h="347472">
                <a:tc>
                  <a:txBody>
                    <a:bodyPr wrap="square"/>
                    <a:lstStyle/>
                    <a:p>
                      <a:pPr algn="l"/>
                      <a:r>
                        <a:rPr sz="1150" b="0">
                          <a:solidFill>
                            <a:srgbClr val="555555"/>
                          </a:solidFill>
                          <a:latin typeface="맑은 고딕"/>
                          <a:ea typeface="맑은 고딕"/>
                        </a:rPr>
                        <a:t>5단계 과제 구현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전부</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전부 구현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O</a:t>
                      </a:r>
                    </a:p>
                  </a:txBody>
                  <a:tcPr marL="54864" marT="18288" marB="18288" anchor="ctr">
                    <a:solidFill>
                      <a:srgbClr val="FFFFFF"/>
                    </a:solidFill>
                  </a:tcPr>
                </a:tc>
              </a:tr>
              <a:tr h="347472">
                <a:tc>
                  <a:txBody>
                    <a:bodyPr wrap="square"/>
                    <a:lstStyle/>
                    <a:p>
                      <a:pPr algn="l"/>
                      <a:r>
                        <a:rPr sz="1150" b="0">
                          <a:solidFill>
                            <a:srgbClr val="555555"/>
                          </a:solidFill>
                          <a:latin typeface="맑은 고딕"/>
                          <a:ea typeface="맑은 고딕"/>
                        </a:rPr>
                        <a:t>보드 단독 실시간 동작</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10 FPS 이상</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68.1 FPS (INT8 · MJPG)</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O</a:t>
                      </a:r>
                    </a:p>
                  </a:txBody>
                  <a:tcPr marL="54864" marT="18288" marB="18288" anchor="ctr">
                    <a:solidFill>
                      <a:srgbClr val="FFFFFF"/>
                    </a:solidFill>
                  </a:tcPr>
                </a:tc>
              </a:tr>
              <a:tr h="347472">
                <a:tc>
                  <a:txBody>
                    <a:bodyPr wrap="square"/>
                    <a:lstStyle/>
                    <a:p>
                      <a:pPr algn="l"/>
                      <a:r>
                        <a:rPr sz="1150" b="0">
                          <a:solidFill>
                            <a:srgbClr val="555555"/>
                          </a:solidFill>
                          <a:latin typeface="맑은 고딕"/>
                          <a:ea typeface="맑은 고딕"/>
                        </a:rPr>
                        <a:t>승패 판정 정확도</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9가지 조합 전부</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9 / 9</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O</a:t>
                      </a:r>
                    </a:p>
                  </a:txBody>
                  <a:tcPr marL="54864" marT="18288" marB="18288" anchor="ctr">
                    <a:solidFill>
                      <a:srgbClr val="FFFFFF"/>
                    </a:solidFill>
                  </a:tcPr>
                </a:tc>
              </a:tr>
              <a:tr h="347472">
                <a:tc>
                  <a:txBody>
                    <a:bodyPr wrap="square"/>
                    <a:lstStyle/>
                    <a:p>
                      <a:pPr algn="l"/>
                      <a:r>
                        <a:rPr sz="1150" b="0">
                          <a:solidFill>
                            <a:srgbClr val="555555"/>
                          </a:solidFill>
                          <a:latin typeface="맑은 고딕"/>
                          <a:ea typeface="맑은 고딕"/>
                        </a:rPr>
                        <a:t>실사용 인식 성능</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mAP50 0.851 (v1 0.475)</a:t>
                      </a:r>
                    </a:p>
                  </a:txBody>
                  <a:tcPr marL="54864" marT="18288" marB="18288" anchor="ctr">
                    <a:solidFill>
                      <a:srgbClr val="FFFFFF"/>
                    </a:solidFill>
                  </a:tcPr>
                </a:tc>
                <a:tc>
                  <a:txBody>
                    <a:bodyPr wrap="square"/>
                    <a:lstStyle/>
                    <a:p>
                      <a:pPr algn="ctr"/>
                      <a:r>
                        <a:rPr sz="1150" b="0">
                          <a:solidFill>
                            <a:srgbClr val="555555"/>
                          </a:solidFill>
                          <a:latin typeface="맑은 고딕"/>
                          <a:ea typeface="맑은 고딕"/>
                        </a:rPr>
                        <a:t>O</a:t>
                      </a:r>
                    </a:p>
                  </a:txBody>
                  <a:tcPr marL="54864" marT="18288" marB="18288" anchor="ctr">
                    <a:solidFill>
                      <a:srgbClr val="FFFFFF"/>
                    </a:solidFill>
                  </a:tcPr>
                </a:tc>
              </a:tr>
            </a:tbl>
          </a:graphicData>
        </a:graphic>
      </p:graphicFrame>
      <p:sp>
        <p:nvSpPr>
          <p:cNvPr id="9" name="TextBox 8"/>
          <p:cNvSpPr txBox="1"/>
          <p:nvPr/>
        </p:nvSpPr>
        <p:spPr>
          <a:xfrm>
            <a:off x="457200" y="4709160"/>
            <a:ext cx="11247120" cy="1828800"/>
          </a:xfrm>
          <a:prstGeom prst="rect">
            <a:avLst/>
          </a:prstGeom>
          <a:noFill/>
        </p:spPr>
        <p:txBody>
          <a:bodyPr wrap="square">
            <a:spAutoFit/>
          </a:bodyPr>
          <a:lstStyle/>
          <a:p>
            <a:pPr algn="l">
              <a:spcBef>
                <a:spcPts val="400"/>
              </a:spcBef>
            </a:pPr>
            <a:r>
              <a:rPr sz="1400" b="1">
                <a:solidFill>
                  <a:srgbClr val="1F3B63"/>
                </a:solidFill>
                <a:latin typeface="맑은 고딕"/>
                <a:ea typeface="맑은 고딕"/>
              </a:rPr>
              <a:t>■ 기대 효과</a:t>
            </a:r>
          </a:p>
          <a:p>
            <a:pPr algn="l">
              <a:spcBef>
                <a:spcPts val="600"/>
              </a:spcBef>
            </a:pPr>
            <a:r>
              <a:rPr sz="1250" b="0">
                <a:latin typeface="맑은 고딕"/>
                <a:ea typeface="맑은 고딕"/>
              </a:rPr>
              <a:t>· 정해진 손 모양을 판별하는 장치 — 무인 키오스크 제스처 입력, 재활 훈련 동작 확인, 비접촉 조작 패널 등에 그대로 이전할 수 있다.</a:t>
            </a:r>
          </a:p>
          <a:p>
            <a:pPr algn="l">
              <a:spcBef>
                <a:spcPts val="400"/>
              </a:spcBef>
            </a:pPr>
            <a:r>
              <a:rPr sz="1250" b="0">
                <a:latin typeface="맑은 고딕"/>
                <a:ea typeface="맑은 고딕"/>
              </a:rPr>
              <a:t>· 값싼 보드 한 대에서 검출·판정·표시가 모두 끝나므로 네트워크가 필요 없다. 카메라 영상이 기기 밖으로 나가지 않아 개인정보 측면에서도 유리하다.</a:t>
            </a:r>
          </a:p>
          <a:p>
            <a:pPr algn="l">
              <a:spcBef>
                <a:spcPts val="400"/>
              </a:spcBef>
            </a:pPr>
            <a:r>
              <a:rPr sz="1250" b="0">
                <a:latin typeface="맑은 고딕"/>
                <a:ea typeface="맑은 고딕"/>
              </a:rPr>
              <a:t>· 본 프로젝트의 데이터셋 구축·검증 도구(make_dataset.py, check_labels.py)는 클래스만 바꾸면 다른 검출 과제에 그대로 재사용할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5. 향후 연구 과제</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남은 문제는 모두 원인까지 규명되어 있으며, 해결 방향이 수치로 특정되어 있다</a:t>
            </a:r>
          </a:p>
        </p:txBody>
      </p:sp>
      <p:graphicFrame>
        <p:nvGraphicFramePr>
          <p:cNvPr id="4" name="Table 3"/>
          <p:cNvGraphicFramePr>
            <a:graphicFrameLocks noGrp="1"/>
          </p:cNvGraphicFramePr>
          <p:nvPr/>
        </p:nvGraphicFramePr>
        <p:xfrm>
          <a:off x="457200" y="1920240"/>
          <a:ext cx="11247120" cy="3566160"/>
        </p:xfrm>
        <a:graphic>
          <a:graphicData uri="http://schemas.openxmlformats.org/drawingml/2006/table">
            <a:tbl>
              <a:tblPr firstRow="1" bandRow="1">
                <a:tableStyleId>{5C22544A-7EE6-4342-B048-85BDC9FD1C3A}</a:tableStyleId>
              </a:tblPr>
              <a:tblGrid>
                <a:gridCol w="2011680"/>
                <a:gridCol w="2743200"/>
                <a:gridCol w="3291840"/>
                <a:gridCol w="3200400"/>
              </a:tblGrid>
              <a:tr h="713232">
                <a:tc>
                  <a:txBody>
                    <a:bodyPr wrap="square"/>
                    <a:lstStyle/>
                    <a:p>
                      <a:pPr algn="l"/>
                      <a:r>
                        <a:rPr sz="1200" b="1">
                          <a:solidFill>
                            <a:srgbClr val="FFFFFF"/>
                          </a:solidFill>
                          <a:latin typeface="맑은 고딕"/>
                          <a:ea typeface="맑은 고딕"/>
                        </a:rPr>
                        <a:t>과제</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현재 상태 (수치)</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원인</a:t>
                      </a:r>
                    </a:p>
                  </a:txBody>
                  <a:tcPr marL="54864" marT="18288" marB="18288" anchor="ctr">
                    <a:solidFill>
                      <a:srgbClr val="1F3B63"/>
                    </a:solidFill>
                  </a:tcPr>
                </a:tc>
                <a:tc>
                  <a:txBody>
                    <a:bodyPr wrap="square"/>
                    <a:lstStyle/>
                    <a:p>
                      <a:pPr algn="ctr"/>
                      <a:r>
                        <a:rPr sz="1200" b="1">
                          <a:solidFill>
                            <a:srgbClr val="FFFFFF"/>
                          </a:solidFill>
                          <a:latin typeface="맑은 고딕"/>
                          <a:ea typeface="맑은 고딕"/>
                        </a:rPr>
                        <a:t>해결 방향</a:t>
                      </a:r>
                    </a:p>
                  </a:txBody>
                  <a:tcPr marL="54864" marT="18288" marB="18288" anchor="ctr">
                    <a:solidFill>
                      <a:srgbClr val="1F3B63"/>
                    </a:solidFill>
                  </a:tcPr>
                </a:tc>
              </a:tr>
              <a:tr h="713232">
                <a:tc>
                  <a:txBody>
                    <a:bodyPr wrap="square"/>
                    <a:lstStyle/>
                    <a:p>
                      <a:pPr algn="l"/>
                      <a:r>
                        <a:rPr sz="1050" b="0">
                          <a:solidFill>
                            <a:srgbClr val="555555"/>
                          </a:solidFill>
                          <a:latin typeface="맑은 고딕"/>
                          <a:ea typeface="맑은 고딕"/>
                        </a:rPr>
                        <a:t>얼굴을 손으로 오검출</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학습 데이터의 background 사진 2장 / 724장 (0.3%)</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YOLO는 박스 밖을 "없음"으로 학습하는데, 여백에 얼굴이 한 번도 없었다</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손이 없는 사진을 라벨 없이 전체의 10%(약 70장) 추가</a:t>
                      </a:r>
                    </a:p>
                  </a:txBody>
                  <a:tcPr marL="54864" marT="18288" marB="18288" anchor="ctr">
                    <a:solidFill>
                      <a:srgbClr val="FFFFFF"/>
                    </a:solidFill>
                  </a:tcPr>
                </a:tc>
              </a:tr>
              <a:tr h="713232">
                <a:tc>
                  <a:txBody>
                    <a:bodyPr wrap="square"/>
                    <a:lstStyle/>
                    <a:p>
                      <a:pPr algn="l"/>
                      <a:r>
                        <a:rPr sz="1050" b="0">
                          <a:solidFill>
                            <a:srgbClr val="555555"/>
                          </a:solidFill>
                          <a:latin typeface="맑은 고딕"/>
                          <a:ea typeface="맑은 고딕"/>
                        </a:rPr>
                        <a:t>박스 위치 정밀도</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mAP50-95 0.472 (mAP50 0.851 대비 낮음)</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라벨링하는 사람마다 박스 기준이 미세하게 다름</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라벨링 기준 문서화 후 재라벨링, 또는 더 큰 모델(YOLO11s)</a:t>
                      </a:r>
                    </a:p>
                  </a:txBody>
                  <a:tcPr marL="54864" marT="18288" marB="18288" anchor="ctr">
                    <a:solidFill>
                      <a:srgbClr val="FFFFFF"/>
                    </a:solidFill>
                  </a:tcPr>
                </a:tc>
              </a:tr>
              <a:tr h="713232">
                <a:tc>
                  <a:txBody>
                    <a:bodyPr wrap="square"/>
                    <a:lstStyle/>
                    <a:p>
                      <a:pPr algn="l"/>
                      <a:r>
                        <a:rPr sz="1050" b="0">
                          <a:solidFill>
                            <a:srgbClr val="555555"/>
                          </a:solidFill>
                          <a:latin typeface="맑은 고딕"/>
                          <a:ea typeface="맑은 고딕"/>
                        </a:rPr>
                        <a:t>어두운 배경 대응</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학습 데이터 배경 밝기 V 131~176, V&lt;120인 사진 0장</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촬영 장소가 한 곳(밝은 무채색 벽)뿐이었다</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배경 × 클래스를 격자로 채워 촬영 (bg_check.py로 조건 수치화)</a:t>
                      </a:r>
                    </a:p>
                  </a:txBody>
                  <a:tcPr marL="54864" marT="18288" marB="18288" anchor="ctr">
                    <a:solidFill>
                      <a:srgbClr val="FFFFFF"/>
                    </a:solidFill>
                  </a:tcPr>
                </a:tc>
              </a:tr>
              <a:tr h="713232">
                <a:tc>
                  <a:txBody>
                    <a:bodyPr wrap="square"/>
                    <a:lstStyle/>
                    <a:p>
                      <a:pPr algn="l"/>
                      <a:r>
                        <a:rPr sz="1050" b="0">
                          <a:solidFill>
                            <a:srgbClr val="555555"/>
                          </a:solidFill>
                          <a:latin typeface="맑은 고딕"/>
                          <a:ea typeface="맑은 고딕"/>
                        </a:rPr>
                        <a:t>팀 라벨 43장 미완</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rock_scissor 33장 등 미라벨 상태로 제외됨</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팀원 작업 진행 중</a:t>
                      </a:r>
                    </a:p>
                  </a:txBody>
                  <a:tcPr marL="54864" marT="18288" marB="18288" anchor="ctr">
                    <a:solidFill>
                      <a:srgbClr val="FFFFFF"/>
                    </a:solidFill>
                  </a:tcPr>
                </a:tc>
                <a:tc>
                  <a:txBody>
                    <a:bodyPr wrap="square"/>
                    <a:lstStyle/>
                    <a:p>
                      <a:pPr algn="ctr"/>
                      <a:r>
                        <a:rPr sz="1050" b="0">
                          <a:solidFill>
                            <a:srgbClr val="555555"/>
                          </a:solidFill>
                          <a:latin typeface="맑은 고딕"/>
                          <a:ea typeface="맑은 고딕"/>
                        </a:rPr>
                        <a:t>수령 즉시 make_dataset.py 재실행 (자동 병합·검증)</a:t>
                      </a:r>
                    </a:p>
                  </a:txBody>
                  <a:tcPr marL="54864" marT="18288" marB="18288" anchor="ctr">
                    <a:solidFill>
                      <a:srgbClr val="FFFFFF"/>
                    </a:solidFill>
                  </a:tcPr>
                </a:tc>
              </a:tr>
            </a:tbl>
          </a:graphicData>
        </a:graphic>
      </p:graphicFrame>
      <p:sp>
        <p:nvSpPr>
          <p:cNvPr id="5" name="TextBox 4"/>
          <p:cNvSpPr txBox="1"/>
          <p:nvPr/>
        </p:nvSpPr>
        <p:spPr>
          <a:xfrm>
            <a:off x="457200" y="5120640"/>
            <a:ext cx="11247120" cy="457200"/>
          </a:xfrm>
          <a:prstGeom prst="rect">
            <a:avLst/>
          </a:prstGeom>
          <a:noFill/>
        </p:spPr>
        <p:txBody>
          <a:bodyPr wrap="square">
            <a:spAutoFit/>
          </a:bodyPr>
          <a:lstStyle/>
          <a:p>
            <a:pPr algn="l">
              <a:spcBef>
                <a:spcPts val="400"/>
              </a:spcBef>
            </a:pPr>
            <a:r>
              <a:rPr sz="1100" b="0">
                <a:solidFill>
                  <a:srgbClr val="555555"/>
                </a:solidFill>
                <a:latin typeface="맑은 고딕"/>
                <a:ea typeface="맑은 고딕"/>
              </a:rPr>
              <a:t>※ "얼굴 오검출"은 임시 방편(신뢰도 상위 2개만 사용, USE_TOP2 옵션)을 구현해 두었으나, 이를 켜면 3단계 예외 처리가 화면에 나타나지 않으므로 과제 시연에는 사용하지 않았다. 근본 해결은 데이터 추가이며, 그 방법과 필요 수량까지 확인해 두었다.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lIns="411480"/>
          <a:lstStyle/>
          <a:p>
            <a:pPr algn="ctr"/>
            <a:r>
              <a:rPr sz="2600" b="1">
                <a:solidFill>
                  <a:srgbClr val="FFFFFF"/>
                </a:solidFill>
                <a:latin typeface="맑은 고딕"/>
                <a:ea typeface="맑은 고딕"/>
              </a:rPr>
              <a:t>6. 프로젝트 수행 후기</a:t>
            </a:r>
          </a:p>
        </p:txBody>
      </p:sp>
      <p:sp>
        <p:nvSpPr>
          <p:cNvPr id="3" name="Rectangle 2"/>
          <p:cNvSpPr/>
          <p:nvPr/>
        </p:nvSpPr>
        <p:spPr>
          <a:xfrm>
            <a:off x="457200" y="1143000"/>
            <a:ext cx="11247120" cy="566928"/>
          </a:xfrm>
          <a:prstGeom prst="rect">
            <a:avLst/>
          </a:prstGeom>
          <a:solidFill>
            <a:srgbClr val="EEF3F9"/>
          </a:solidFill>
          <a:ln w="19050">
            <a:solidFill>
              <a:srgbClr val="2E6DB4"/>
            </a:solid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ctr"/>
            <a:r>
              <a:rPr sz="1500" b="1">
                <a:solidFill>
                  <a:srgbClr val="1F3B63"/>
                </a:solidFill>
                <a:latin typeface="맑은 고딕"/>
                <a:ea typeface="맑은 고딕"/>
              </a:rPr>
              <a:t>이번 프로젝트에서 가장 크게 배운 것은 "측정하지 않으면 모른다"는 것이다</a:t>
            </a:r>
          </a:p>
        </p:txBody>
      </p:sp>
      <p:sp>
        <p:nvSpPr>
          <p:cNvPr id="4" name="TextBox 3"/>
          <p:cNvSpPr txBox="1"/>
          <p:nvPr/>
        </p:nvSpPr>
        <p:spPr>
          <a:xfrm>
            <a:off x="457200" y="1920240"/>
            <a:ext cx="11247120" cy="4389120"/>
          </a:xfrm>
          <a:prstGeom prst="rect">
            <a:avLst/>
          </a:prstGeom>
          <a:noFill/>
        </p:spPr>
        <p:txBody>
          <a:bodyPr wrap="square">
            <a:spAutoFit/>
          </a:bodyPr>
          <a:lstStyle/>
          <a:p>
            <a:pPr algn="l">
              <a:spcBef>
                <a:spcPts val="400"/>
              </a:spcBef>
            </a:pPr>
            <a:r>
              <a:rPr sz="1500" b="1">
                <a:solidFill>
                  <a:srgbClr val="1F3B63"/>
                </a:solidFill>
                <a:latin typeface="맑은 고딕"/>
                <a:ea typeface="맑은 고딕"/>
              </a:rPr>
              <a:t>■ 추측이 틀렸던 순간들</a:t>
            </a:r>
          </a:p>
          <a:p>
            <a:pPr algn="l">
              <a:spcBef>
                <a:spcPts val="600"/>
              </a:spcBef>
            </a:pPr>
            <a:r>
              <a:rPr sz="1250" b="0">
                <a:latin typeface="맑은 고딕"/>
                <a:ea typeface="맑은 고딕"/>
              </a:rPr>
              <a:t>후처리 코드가 40줄이라 무거울 것이라 예상했으나 실측 0.36 ms였다. 반대로 한 줄짜리 cv2.imshow가 느릴 것이라 생각했는데 0.10 ms였고, 실제로는 waitKey가 11.98 ms를 쓰고 있었다. imshow가 비동기라 화면 전송이 waitKey 안에서 일어나기 때문이었다. 코드의 길이와 실행 시간은 아무 관계가 없다는 것을 숫자로 배웠다.</a:t>
            </a:r>
          </a:p>
          <a:p>
            <a:pPr algn="l">
              <a:spcBef>
                <a:spcPts val="1400"/>
              </a:spcBef>
            </a:pPr>
            <a:r>
              <a:rPr sz="1500" b="1">
                <a:solidFill>
                  <a:srgbClr val="1F3B63"/>
                </a:solidFill>
                <a:latin typeface="맑은 고딕"/>
                <a:ea typeface="맑은 고딕"/>
              </a:rPr>
              <a:t>■ 높은 점수를 의심하게 된 일</a:t>
            </a:r>
          </a:p>
          <a:p>
            <a:pPr algn="l">
              <a:spcBef>
                <a:spcPts val="600"/>
              </a:spcBef>
            </a:pPr>
            <a:r>
              <a:rPr sz="1250" b="0">
                <a:latin typeface="맑은 고딕"/>
                <a:ea typeface="맑은 고딕"/>
              </a:rPr>
              <a:t>mAP 0.995를 보고 완성되었다고 생각했으나, 어두운 옷 앞에서는 인식이 되지 않았다. 학습 데이터 104장의 픽셀을 직접 재 보고서야 배경 밝기가 V 131~176 한 구간에만 몰려 있고 어두운 배경이 단 한 장도 없다는 것을 알았다. 시험지와 문제집이 같은 책이었던 것이다. 이후 시험지를 두 개로 나누어 관리했고, 그 덕분에 v1이 실사용 조건에서 0.475에 불과하다는 사실을 발견할 수 있었다. 높은 점수일수록 그 점수가 무엇을 재고 있는지 물어야 한다.</a:t>
            </a:r>
          </a:p>
          <a:p>
            <a:pPr algn="l">
              <a:spcBef>
                <a:spcPts val="1400"/>
              </a:spcBef>
            </a:pPr>
            <a:r>
              <a:rPr sz="1500" b="1">
                <a:solidFill>
                  <a:srgbClr val="1F3B63"/>
                </a:solidFill>
                <a:latin typeface="맑은 고딕"/>
                <a:ea typeface="맑은 고딕"/>
              </a:rPr>
              <a:t>■ 어려웠던 점과 극복</a:t>
            </a:r>
          </a:p>
          <a:p>
            <a:pPr algn="l">
              <a:spcBef>
                <a:spcPts val="600"/>
              </a:spcBef>
            </a:pPr>
            <a:r>
              <a:rPr sz="1250" b="0">
                <a:latin typeface="맑은 고딕"/>
                <a:ea typeface="맑은 고딕"/>
              </a:rPr>
              <a:t>가장 곤란했던 것은 오류 없이 조용히 실패하는 문제들이었다. 라벨 형식이 xml이면 학습이 헛돌고, 클래스 번호가 밀리면 가위를 바위로 배우는데 경고 한 줄 나오지 않는다. 사람이 눈으로 확인하는 방식으로는 막을 수 없다고 판단해, 폴더 이름과 라벨을 기계가 대조하는 검사기를 만들었다. 실제로 오타 클래스와 파일명 손상 4건, 잘못 친 라벨 2건을 병합 전에 잡아냈다.</a:t>
            </a:r>
          </a:p>
          <a:p>
            <a:pPr algn="l">
              <a:spcBef>
                <a:spcPts val="1400"/>
              </a:spcBef>
            </a:pPr>
            <a:r>
              <a:rPr sz="1500" b="1">
                <a:solidFill>
                  <a:srgbClr val="1F3B63"/>
                </a:solidFill>
                <a:latin typeface="맑은 고딕"/>
                <a:ea typeface="맑은 고딕"/>
              </a:rPr>
              <a:t>■ 마무리하며</a:t>
            </a:r>
          </a:p>
          <a:p>
            <a:pPr algn="l">
              <a:spcBef>
                <a:spcPts val="600"/>
              </a:spcBef>
            </a:pPr>
            <a:r>
              <a:rPr sz="1250" b="0">
                <a:latin typeface="맑은 고딕"/>
                <a:ea typeface="맑은 고딕"/>
              </a:rPr>
              <a:t>대학원 산학 프로젝트에서 NPU SDK가 만들어 주던 성능 타임라인을 이번에는 직접 구현해 보면서, 그때 보던 그림이 무엇이었는지 비로소 이해하게 되었다. 모델을 바꾸는 것보다 데이터를 바꾸는 쪽이 효과가 컸다는 점, 그리고 그것을 확인하려면 비교 가능한 실험 설계가 먼저라는 점을 남은 과정에서도 이어 가고자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